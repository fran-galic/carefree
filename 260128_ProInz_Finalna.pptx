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1" r:id="rId5"/>
    <p:sldId id="264" r:id="rId6"/>
    <p:sldId id="262" r:id="rId7"/>
    <p:sldId id="269" r:id="rId8"/>
    <p:sldId id="267" r:id="rId9"/>
    <p:sldId id="266" r:id="rId10"/>
    <p:sldId id="260" r:id="rId11"/>
    <p:sldId id="265" r:id="rId12"/>
    <p:sldId id="268" r:id="rId13"/>
    <p:sldId id="271" r:id="rId14"/>
    <p:sldId id="270" r:id="rId15"/>
    <p:sldId id="26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" userDrawn="1">
          <p15:clr>
            <a:srgbClr val="A4A3A4"/>
          </p15:clr>
        </p15:guide>
        <p15:guide id="2" pos="7378" userDrawn="1">
          <p15:clr>
            <a:srgbClr val="A4A3A4"/>
          </p15:clr>
        </p15:guide>
        <p15:guide id="3" pos="642" userDrawn="1">
          <p15:clr>
            <a:srgbClr val="A4A3A4"/>
          </p15:clr>
        </p15:guide>
        <p15:guide id="4" pos="234" userDrawn="1">
          <p15:clr>
            <a:srgbClr val="A4A3A4"/>
          </p15:clr>
        </p15:guide>
        <p15:guide id="5" orient="horz" pos="1616" userDrawn="1">
          <p15:clr>
            <a:srgbClr val="A4A3A4"/>
          </p15:clr>
        </p15:guide>
        <p15:guide id="6" orient="horz" pos="16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1C1F"/>
    <a:srgbClr val="728088"/>
    <a:srgbClr val="A1A195"/>
    <a:srgbClr val="9EC3D2"/>
    <a:srgbClr val="E0EAED"/>
    <a:srgbClr val="E4EEF0"/>
    <a:srgbClr val="E3E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6081" autoAdjust="0"/>
  </p:normalViewPr>
  <p:slideViewPr>
    <p:cSldViewPr snapToGrid="0">
      <p:cViewPr>
        <p:scale>
          <a:sx n="100" d="100"/>
          <a:sy n="100" d="100"/>
        </p:scale>
        <p:origin x="912" y="216"/>
      </p:cViewPr>
      <p:guideLst>
        <p:guide orient="horz" pos="232"/>
        <p:guide pos="7378"/>
        <p:guide pos="642"/>
        <p:guide pos="234"/>
        <p:guide orient="horz" pos="1616"/>
        <p:guide orient="horz" pos="16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A6DAD7-F1C3-486E-BE1D-38F142256E11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4552BC-8A7E-46E9-8A33-AB4A567B5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95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552BC-8A7E-46E9-8A33-AB4A567B57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748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53E4B-26E1-B72F-D1E6-9E10D2E3C3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C99CE4-8FD5-1800-CCB2-8E6EDE872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4BFE3-48DF-A221-494E-B8B7669B0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D8B23-11D0-40B5-81D6-BF4CEF999888}" type="datetime1">
              <a:rPr lang="hr-HR" smtClean="0"/>
              <a:t>23.1.2026.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A7795-14BF-18F4-8E3C-274BD33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G7.01 Programsko Inženjerstvo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10A39-F8A4-4E85-AC32-002E614EB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0E17-5F22-405C-8E91-999647307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894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131F9-145D-56F2-8EF7-EFABFF554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04383-21FA-C5B3-E61D-3D879C357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667D2-007D-1D95-DD8D-2B0AD5DC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82200" y="6365688"/>
            <a:ext cx="2743200" cy="365125"/>
          </a:xfrm>
        </p:spPr>
        <p:txBody>
          <a:bodyPr/>
          <a:lstStyle/>
          <a:p>
            <a:fld id="{60659574-9AB7-40DF-BE47-2844EBA5CDD0}" type="datetime1">
              <a:rPr lang="hr-HR" smtClean="0"/>
              <a:t>23.1.2026.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75634-EA47-FA5C-5017-1EEE8402D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10312"/>
            <a:ext cx="2577353" cy="365125"/>
          </a:xfrm>
        </p:spPr>
        <p:txBody>
          <a:bodyPr/>
          <a:lstStyle/>
          <a:p>
            <a:r>
              <a:rPr lang="en-US"/>
              <a:t>G7.01 Programsko Inženjerstvo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A119A-988F-6644-35BE-54E19E452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0E17-5F22-405C-8E91-999647307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606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32B5B-9695-4203-DB29-B713429AF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D2BCA5-C4A7-D3DD-87B9-26670784B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BA6A65B-2C46-8267-54B1-5E4BD23220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82200" y="6365688"/>
            <a:ext cx="2743200" cy="365125"/>
          </a:xfrm>
        </p:spPr>
        <p:txBody>
          <a:bodyPr/>
          <a:lstStyle/>
          <a:p>
            <a:fld id="{5711EE21-2277-4A0E-88FC-906105CE733C}" type="datetime1">
              <a:rPr lang="hr-HR" smtClean="0"/>
              <a:t>23.1.2026.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DAC1D7B-091C-E24D-E31E-CD7291CB2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10312"/>
            <a:ext cx="2577353" cy="365125"/>
          </a:xfrm>
        </p:spPr>
        <p:txBody>
          <a:bodyPr/>
          <a:lstStyle/>
          <a:p>
            <a:r>
              <a:rPr lang="en-US"/>
              <a:t>G7.01 Programsko Inženjerstvo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F07EF54-8BAF-C3A1-ACBB-CDFA3C585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40E17-5F22-405C-8E91-999647307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98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48833-348A-A8E2-008F-143EEB2C8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6E90D-9286-0D4C-6416-3FFF94E96D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0ABF57-46F7-6444-366C-95B5B178B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70A0B3D0-4BE6-22CB-107B-3BCEE731F7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82200" y="6365688"/>
            <a:ext cx="2743200" cy="365125"/>
          </a:xfrm>
        </p:spPr>
        <p:txBody>
          <a:bodyPr/>
          <a:lstStyle/>
          <a:p>
            <a:fld id="{DCA06CF2-818C-49EE-A480-97509E50BFBB}" type="datetime1">
              <a:rPr lang="hr-HR" smtClean="0"/>
              <a:t>23.1.2026.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D644CBB-F44A-97DD-C570-FAC51CFA1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10312"/>
            <a:ext cx="2577353" cy="365125"/>
          </a:xfrm>
        </p:spPr>
        <p:txBody>
          <a:bodyPr/>
          <a:lstStyle/>
          <a:p>
            <a:r>
              <a:rPr lang="en-US"/>
              <a:t>G7.01 Programsko Inženjerstvo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4A4827-CC69-ABDF-7EBC-2E5140F37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40E17-5F22-405C-8E91-999647307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95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2CF84-41A9-05C3-8693-4BB4E519A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6BE95B-7C7C-5D12-36B4-CC8966DB9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A391D-3F74-536C-389F-19607C585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C466E-A5CB-0DC2-87D4-5FBCB03F5A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11DCDA-8CE8-C71B-5426-6E173BA1E0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88614DE2-13DA-16BC-0DF6-B922E58FE2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82200" y="6365688"/>
            <a:ext cx="2743200" cy="365125"/>
          </a:xfrm>
        </p:spPr>
        <p:txBody>
          <a:bodyPr/>
          <a:lstStyle/>
          <a:p>
            <a:fld id="{F38ABB9E-2105-4FF0-BADA-F67D20292F19}" type="datetime1">
              <a:rPr lang="hr-HR" smtClean="0"/>
              <a:t>23.1.2026.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F757D4D3-BCAC-0DA7-8786-B442EFF82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10312"/>
            <a:ext cx="2577353" cy="365125"/>
          </a:xfrm>
        </p:spPr>
        <p:txBody>
          <a:bodyPr/>
          <a:lstStyle/>
          <a:p>
            <a:r>
              <a:rPr lang="en-US"/>
              <a:t>G7.01 Programsko Inženjerstvo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F8148B7-EA21-D6B5-E44E-A463A53D8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40E17-5F22-405C-8E91-999647307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240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13701-7B51-F737-17D8-9112EC77E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5424439-DC41-A443-C664-312CF731D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10312"/>
            <a:ext cx="2577353" cy="365125"/>
          </a:xfrm>
        </p:spPr>
        <p:txBody>
          <a:bodyPr/>
          <a:lstStyle/>
          <a:p>
            <a:r>
              <a:rPr lang="en-US"/>
              <a:t>G7.01 Programsko Inženjerstvo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9B86C39-E1D7-427E-9B32-8D0AFC38D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40E17-5F22-405C-8E91-999647307EF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64A052A4-D121-5EEF-3E9E-5F6A913E5F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15290" y="6365688"/>
            <a:ext cx="2743200" cy="365125"/>
          </a:xfrm>
        </p:spPr>
        <p:txBody>
          <a:bodyPr/>
          <a:lstStyle/>
          <a:p>
            <a:fld id="{08908548-514F-42AF-9E2A-BA7D77B12450}" type="datetime1">
              <a:rPr lang="hr-HR" smtClean="0"/>
              <a:t>23.1.2026.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090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63FE7E1-5E03-8942-4A32-A631E8D9C1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15290" y="6365688"/>
            <a:ext cx="2743200" cy="365125"/>
          </a:xfrm>
        </p:spPr>
        <p:txBody>
          <a:bodyPr/>
          <a:lstStyle/>
          <a:p>
            <a:fld id="{6B72BE2A-E275-4F3D-BEE9-6175592E33BA}" type="datetime1">
              <a:rPr lang="hr-HR" smtClean="0"/>
              <a:t>23.1.2026.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01FA526-D2AF-BDD3-0733-B941E1197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10312"/>
            <a:ext cx="2577353" cy="365125"/>
          </a:xfrm>
        </p:spPr>
        <p:txBody>
          <a:bodyPr/>
          <a:lstStyle/>
          <a:p>
            <a:r>
              <a:rPr lang="en-US"/>
              <a:t>G7.01 Programsko Inženjerstvo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644A783-79CB-01AE-8A9A-061AF07DF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40E17-5F22-405C-8E91-999647307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588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5FD9E-0BF5-8203-F113-3B9DD6AEC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7A834-3C67-9357-B1BA-04A6AE099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85402B-8A81-35BB-BD61-48FC6BC5C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8A9A56-70CF-B1C8-E4D3-113A55CD4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C41B2-D277-4B52-8CDB-BEF6905A396E}" type="datetime1">
              <a:rPr lang="hr-HR" smtClean="0"/>
              <a:t>23.1.2026.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B3E5D-B5F3-955C-5396-3D75AF7D9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G7.01 Programsko Inženjerstvo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5878F-4540-6E7D-46F9-67D10AB27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0E17-5F22-405C-8E91-999647307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1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75BFC-E0A4-9106-8A98-ADC901A16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08F2BB-8DA4-85AA-5D1F-0231DB75F4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189F7C-79A7-752B-7053-649950E7B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14EEB-4029-6140-E598-D90B00B9D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975AA-5B88-4894-8834-5D1981165664}" type="datetime1">
              <a:rPr lang="hr-HR" smtClean="0"/>
              <a:t>23.1.2026.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E38C3F-7F34-F0CA-1ED7-96C7F585B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G7.01 Programsko Inženjerstvo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B0A32E-F1ED-167B-9498-A9105F112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0E17-5F22-405C-8E91-999647307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588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148E5-0327-3AE0-4BC6-0BC5FEE0F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7AA06C-FC15-9706-A311-35DB2C4D4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41139-8D7F-E833-913F-87BBD97B9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62E54-DBFA-4F08-9367-F85D603BD510}" type="datetime1">
              <a:rPr lang="hr-HR" smtClean="0"/>
              <a:t>23.1.2026.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A54A5-FF5E-F963-201A-8CA0AD19B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G7.01 Programsko Inženjerstvo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D8F69-7540-EA20-F894-0F5D6DCA8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0E17-5F22-405C-8E91-999647307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4A242A-3190-2559-4B5B-8C5FE51E74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79E5A8-CE5C-C16B-20A0-474FB518F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7E856-B977-81F4-26ED-1957A782D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B68D8-EDD0-43AB-930F-5A43EFA3117A}" type="datetime1">
              <a:rPr lang="hr-HR" smtClean="0"/>
              <a:t>23.1.2026.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DDB2A-F5C6-1F0F-9B00-7DAE5A20D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G7.01 Programsko Inženjerstvo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A8BAE-F9E7-0C30-A962-3FD12C3B3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0E17-5F22-405C-8E91-999647307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57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56B0B7-4FA0-4F09-7A3D-E351A392D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8E3BE-C128-B725-75FC-592B8B002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2F50E-80FE-172D-0B35-278255BF3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B618C-C572-47EF-BCA3-319A3F88051C}" type="datetime1">
              <a:rPr lang="hr-HR" smtClean="0"/>
              <a:t>23.1.2026.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D06F8-F83D-449E-DCED-EEE6636EDF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G7.01 Programsko Inženjerstvo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4E351-5236-098A-89A1-A04AD6DD05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D40E17-5F22-405C-8E91-999647307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498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8CC2C-7645-2E0F-3FA5-5439F390B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844" y="2146300"/>
            <a:ext cx="4160756" cy="2387600"/>
          </a:xfrm>
        </p:spPr>
        <p:txBody>
          <a:bodyPr>
            <a:normAutofit/>
          </a:bodyPr>
          <a:lstStyle/>
          <a:p>
            <a:pPr algn="l"/>
            <a:r>
              <a:rPr lang="hr-HR" sz="3200" dirty="0">
                <a:latin typeface="Georgia" panose="02040502050405020303" pitchFamily="18" charset="0"/>
                <a:cs typeface="Arial" panose="020B0604020202020204" pitchFamily="34" charset="0"/>
              </a:rPr>
              <a:t>Programsko Inženjerstvo</a:t>
            </a:r>
            <a:br>
              <a:rPr lang="hr-HR" sz="3200" dirty="0"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hr-HR" sz="3200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GB" sz="2000" b="1" noProof="0" dirty="0" err="1">
                <a:latin typeface="Arial" panose="020B0604020202020204" pitchFamily="34" charset="0"/>
                <a:cs typeface="Arial" panose="020B0604020202020204" pitchFamily="34" charset="0"/>
              </a:rPr>
              <a:t>CareFree</a:t>
            </a:r>
            <a:r>
              <a:rPr lang="hr-HR" sz="2000" b="1" noProof="0" dirty="0">
                <a:latin typeface="Arial" panose="020B0604020202020204" pitchFamily="34" charset="0"/>
                <a:cs typeface="Arial" panose="020B0604020202020204" pitchFamily="34" charset="0"/>
              </a:rPr>
              <a:t> - Završna prezentacija</a:t>
            </a:r>
            <a:br>
              <a:rPr lang="hr-HR" sz="2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hr-HR" sz="2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r-HR" sz="2000" b="1" noProof="0" dirty="0">
                <a:latin typeface="Arial" panose="020B0604020202020204" pitchFamily="34" charset="0"/>
                <a:cs typeface="Arial" panose="020B0604020202020204" pitchFamily="34" charset="0"/>
              </a:rPr>
              <a:t>G7.01</a:t>
            </a:r>
            <a:endParaRPr lang="en-US" sz="2000" dirty="0"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BB92D-C846-1D64-B649-162BC5A2DE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000" y="4769354"/>
            <a:ext cx="1745216" cy="1655762"/>
          </a:xfrm>
        </p:spPr>
        <p:txBody>
          <a:bodyPr>
            <a:normAutofit/>
          </a:bodyPr>
          <a:lstStyle/>
          <a:p>
            <a:pPr algn="l"/>
            <a:r>
              <a:rPr lang="hr-HR" sz="1600" dirty="0">
                <a:latin typeface="Arial" panose="020B0604020202020204" pitchFamily="34" charset="0"/>
                <a:cs typeface="Arial" panose="020B0604020202020204" pitchFamily="34" charset="0"/>
              </a:rPr>
              <a:t>28 Siječanj 2026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Software Images – Browse 6,217,228 Stock Photos, Vectors, and Video | Adobe  Stock">
            <a:extLst>
              <a:ext uri="{FF2B5EF4-FFF2-40B4-BE49-F238E27FC236}">
                <a16:creationId xmlns:a16="http://schemas.microsoft.com/office/drawing/2014/main" id="{438A2786-E941-17A2-9810-844C9028A5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19" r="14816"/>
          <a:stretch>
            <a:fillRect/>
          </a:stretch>
        </p:blipFill>
        <p:spPr bwMode="auto">
          <a:xfrm>
            <a:off x="5334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3DAB804-F045-3554-D4DC-AA3DC5B05054}"/>
              </a:ext>
            </a:extLst>
          </p:cNvPr>
          <p:cNvSpPr/>
          <p:nvPr/>
        </p:nvSpPr>
        <p:spPr>
          <a:xfrm>
            <a:off x="5334000" y="6498000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5E979E-370B-3AB3-F0DF-7E0DFE875621}"/>
              </a:ext>
            </a:extLst>
          </p:cNvPr>
          <p:cNvSpPr/>
          <p:nvPr/>
        </p:nvSpPr>
        <p:spPr>
          <a:xfrm>
            <a:off x="4974000" y="6498306"/>
            <a:ext cx="360000" cy="360000"/>
          </a:xfrm>
          <a:prstGeom prst="rect">
            <a:avLst/>
          </a:prstGeom>
          <a:pattFill prst="wdUpDiag">
            <a:fgClr>
              <a:schemeClr val="tx1">
                <a:lumMod val="75000"/>
                <a:lumOff val="2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E60FD7-EECE-CAA6-1844-FD95BA6B5A04}"/>
              </a:ext>
            </a:extLst>
          </p:cNvPr>
          <p:cNvSpPr/>
          <p:nvPr/>
        </p:nvSpPr>
        <p:spPr>
          <a:xfrm>
            <a:off x="5334000" y="6137847"/>
            <a:ext cx="360000" cy="36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1EAD15-ACD4-4AE7-8358-B10D672F02D9}"/>
              </a:ext>
            </a:extLst>
          </p:cNvPr>
          <p:cNvSpPr/>
          <p:nvPr/>
        </p:nvSpPr>
        <p:spPr>
          <a:xfrm>
            <a:off x="11832000" y="-5008"/>
            <a:ext cx="360000" cy="36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B9CEAA-E0F1-22CB-AC67-4236769EEDD7}"/>
              </a:ext>
            </a:extLst>
          </p:cNvPr>
          <p:cNvSpPr/>
          <p:nvPr/>
        </p:nvSpPr>
        <p:spPr>
          <a:xfrm>
            <a:off x="11472000" y="709448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A62F4A-6E05-39BF-7DC5-B2AF8045D034}"/>
              </a:ext>
            </a:extLst>
          </p:cNvPr>
          <p:cNvSpPr/>
          <p:nvPr/>
        </p:nvSpPr>
        <p:spPr>
          <a:xfrm>
            <a:off x="11112000" y="354724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4B42B0-5C12-E13E-B984-76FD38B3AAE0}"/>
              </a:ext>
            </a:extLst>
          </p:cNvPr>
          <p:cNvSpPr/>
          <p:nvPr/>
        </p:nvSpPr>
        <p:spPr>
          <a:xfrm>
            <a:off x="11472000" y="1069180"/>
            <a:ext cx="360000" cy="360000"/>
          </a:xfrm>
          <a:prstGeom prst="rect">
            <a:avLst/>
          </a:prstGeom>
          <a:pattFill prst="wdUpDiag">
            <a:fgClr>
              <a:schemeClr val="bg1"/>
            </a:fgClr>
            <a:bgClr>
              <a:srgbClr val="171C1F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22C9BC-C064-3FB7-46F2-23D270593FD9}"/>
              </a:ext>
            </a:extLst>
          </p:cNvPr>
          <p:cNvSpPr/>
          <p:nvPr/>
        </p:nvSpPr>
        <p:spPr>
          <a:xfrm>
            <a:off x="10752000" y="354724"/>
            <a:ext cx="360000" cy="360000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bg2">
                <a:lumMod val="1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EB8830-C2C9-9040-6338-1EDDC500DDBA}"/>
              </a:ext>
            </a:extLst>
          </p:cNvPr>
          <p:cNvSpPr/>
          <p:nvPr/>
        </p:nvSpPr>
        <p:spPr>
          <a:xfrm>
            <a:off x="5334000" y="-5276"/>
            <a:ext cx="360000" cy="36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827F51-8BC0-558D-3A60-331F4687CB08}"/>
              </a:ext>
            </a:extLst>
          </p:cNvPr>
          <p:cNvSpPr/>
          <p:nvPr/>
        </p:nvSpPr>
        <p:spPr>
          <a:xfrm>
            <a:off x="11472000" y="354724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B69EA4-E016-A18C-62BF-857246B4BCBC}"/>
              </a:ext>
            </a:extLst>
          </p:cNvPr>
          <p:cNvSpPr/>
          <p:nvPr/>
        </p:nvSpPr>
        <p:spPr>
          <a:xfrm>
            <a:off x="5694000" y="5777541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3C6A3D-B687-DE00-0459-069E99906898}"/>
              </a:ext>
            </a:extLst>
          </p:cNvPr>
          <p:cNvSpPr/>
          <p:nvPr/>
        </p:nvSpPr>
        <p:spPr>
          <a:xfrm>
            <a:off x="5694000" y="5417235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8581BBC-5006-F98F-C17C-777D4C176D0F}"/>
              </a:ext>
            </a:extLst>
          </p:cNvPr>
          <p:cNvSpPr/>
          <p:nvPr/>
        </p:nvSpPr>
        <p:spPr>
          <a:xfrm>
            <a:off x="5694000" y="5054731"/>
            <a:ext cx="360000" cy="360000"/>
          </a:xfrm>
          <a:prstGeom prst="rect">
            <a:avLst/>
          </a:prstGeom>
          <a:pattFill prst="wdUpDiag">
            <a:fgClr>
              <a:schemeClr val="bg1"/>
            </a:fgClr>
            <a:bgClr>
              <a:srgbClr val="A1A195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403FD75-2D36-A299-59F4-B267B81629A4}"/>
              </a:ext>
            </a:extLst>
          </p:cNvPr>
          <p:cNvSpPr/>
          <p:nvPr/>
        </p:nvSpPr>
        <p:spPr>
          <a:xfrm>
            <a:off x="6054000" y="5777235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19AB68-2013-A4E7-121A-D38628DDAE05}"/>
              </a:ext>
            </a:extLst>
          </p:cNvPr>
          <p:cNvSpPr/>
          <p:nvPr/>
        </p:nvSpPr>
        <p:spPr>
          <a:xfrm>
            <a:off x="6414000" y="5777235"/>
            <a:ext cx="360000" cy="360000"/>
          </a:xfrm>
          <a:prstGeom prst="rect">
            <a:avLst/>
          </a:prstGeom>
          <a:pattFill prst="wdUpDiag">
            <a:fgClr>
              <a:schemeClr val="bg1"/>
            </a:fgClr>
            <a:bgClr>
              <a:srgbClr val="9EC3D2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DD8A41B-F5DA-4B12-8CD8-053B550BDCF7}"/>
              </a:ext>
            </a:extLst>
          </p:cNvPr>
          <p:cNvSpPr/>
          <p:nvPr/>
        </p:nvSpPr>
        <p:spPr>
          <a:xfrm>
            <a:off x="5694000" y="357228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3ED65D9-00E6-258E-28E1-3F3CF5424BA2}"/>
              </a:ext>
            </a:extLst>
          </p:cNvPr>
          <p:cNvSpPr/>
          <p:nvPr/>
        </p:nvSpPr>
        <p:spPr>
          <a:xfrm>
            <a:off x="6054000" y="739080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121168E-76B9-7626-1C5A-2B1B8EF371B0}"/>
              </a:ext>
            </a:extLst>
          </p:cNvPr>
          <p:cNvSpPr/>
          <p:nvPr/>
        </p:nvSpPr>
        <p:spPr>
          <a:xfrm>
            <a:off x="4974000" y="354724"/>
            <a:ext cx="360000" cy="360000"/>
          </a:xfrm>
          <a:prstGeom prst="rect">
            <a:avLst/>
          </a:prstGeom>
          <a:pattFill prst="wdUpDiag">
            <a:fgClr>
              <a:schemeClr val="tx1">
                <a:lumMod val="75000"/>
                <a:lumOff val="2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78129B7-7B45-B437-BF41-C5AAC9D30F39}"/>
              </a:ext>
            </a:extLst>
          </p:cNvPr>
          <p:cNvSpPr/>
          <p:nvPr/>
        </p:nvSpPr>
        <p:spPr>
          <a:xfrm>
            <a:off x="4974000" y="-5276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8" descr="MANDphy - home - Matematička analiza i numeričke metode za ...">
            <a:extLst>
              <a:ext uri="{FF2B5EF4-FFF2-40B4-BE49-F238E27FC236}">
                <a16:creationId xmlns:a16="http://schemas.microsoft.com/office/drawing/2014/main" id="{2DB2224D-E113-BD8D-FD83-9DEEAC9A72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3" t="24790" r="7063" b="23337"/>
          <a:stretch>
            <a:fillRect/>
          </a:stretch>
        </p:blipFill>
        <p:spPr bwMode="auto">
          <a:xfrm>
            <a:off x="360000" y="325417"/>
            <a:ext cx="3374741" cy="622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209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E060F-D3D7-158A-AAF8-DBC2650A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2800" dirty="0">
                <a:latin typeface="Georgia" panose="02040502050405020303" pitchFamily="18" charset="0"/>
              </a:rPr>
              <a:t>Agenda</a:t>
            </a:r>
            <a:endParaRPr lang="en-US" sz="2800" dirty="0">
              <a:latin typeface="Georgia" panose="02040502050405020303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8CA39-645C-289F-12A2-7774DE72F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2000" y="6356350"/>
            <a:ext cx="2743200" cy="365125"/>
          </a:xfrm>
        </p:spPr>
        <p:txBody>
          <a:bodyPr/>
          <a:lstStyle/>
          <a:p>
            <a:pPr lvl="1" algn="r"/>
            <a:fld id="{CFD40E17-5F22-405C-8E91-999647307EF5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lvl="1" algn="r"/>
              <a:t>2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91D457-C1E0-6976-D2D4-23BC2970B162}"/>
              </a:ext>
            </a:extLst>
          </p:cNvPr>
          <p:cNvCxnSpPr>
            <a:cxnSpLocks/>
          </p:cNvCxnSpPr>
          <p:nvPr/>
        </p:nvCxnSpPr>
        <p:spPr>
          <a:xfrm>
            <a:off x="576262" y="1507643"/>
            <a:ext cx="0" cy="561975"/>
          </a:xfrm>
          <a:prstGeom prst="line">
            <a:avLst/>
          </a:prstGeom>
          <a:ln w="539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A2216B-20C9-4572-7C2B-F2C297ADF96E}"/>
              </a:ext>
            </a:extLst>
          </p:cNvPr>
          <p:cNvCxnSpPr/>
          <p:nvPr/>
        </p:nvCxnSpPr>
        <p:spPr>
          <a:xfrm>
            <a:off x="576262" y="2205252"/>
            <a:ext cx="0" cy="561975"/>
          </a:xfrm>
          <a:prstGeom prst="line">
            <a:avLst/>
          </a:prstGeom>
          <a:ln w="539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6828A0D-8A5A-677A-AA28-28A9142912AD}"/>
              </a:ext>
            </a:extLst>
          </p:cNvPr>
          <p:cNvCxnSpPr/>
          <p:nvPr/>
        </p:nvCxnSpPr>
        <p:spPr>
          <a:xfrm>
            <a:off x="576262" y="2902861"/>
            <a:ext cx="0" cy="561975"/>
          </a:xfrm>
          <a:prstGeom prst="line">
            <a:avLst/>
          </a:prstGeom>
          <a:ln w="539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5E3EF4-D688-B7DF-01B8-885287978621}"/>
              </a:ext>
            </a:extLst>
          </p:cNvPr>
          <p:cNvCxnSpPr/>
          <p:nvPr/>
        </p:nvCxnSpPr>
        <p:spPr>
          <a:xfrm>
            <a:off x="576262" y="3600470"/>
            <a:ext cx="0" cy="561975"/>
          </a:xfrm>
          <a:prstGeom prst="line">
            <a:avLst/>
          </a:prstGeom>
          <a:ln w="539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7AA4004-FBD3-77D1-3E92-3948D290ABF2}"/>
              </a:ext>
            </a:extLst>
          </p:cNvPr>
          <p:cNvCxnSpPr>
            <a:cxnSpLocks/>
          </p:cNvCxnSpPr>
          <p:nvPr/>
        </p:nvCxnSpPr>
        <p:spPr>
          <a:xfrm>
            <a:off x="1019175" y="2137435"/>
            <a:ext cx="106934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6EF7246-18AD-4E37-BC04-88B76E58227D}"/>
              </a:ext>
            </a:extLst>
          </p:cNvPr>
          <p:cNvCxnSpPr>
            <a:cxnSpLocks/>
          </p:cNvCxnSpPr>
          <p:nvPr/>
        </p:nvCxnSpPr>
        <p:spPr>
          <a:xfrm>
            <a:off x="1019175" y="2835044"/>
            <a:ext cx="106934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D3D6B9C-E2C0-3D39-FF55-B19D63686D41}"/>
              </a:ext>
            </a:extLst>
          </p:cNvPr>
          <p:cNvCxnSpPr>
            <a:cxnSpLocks/>
          </p:cNvCxnSpPr>
          <p:nvPr/>
        </p:nvCxnSpPr>
        <p:spPr>
          <a:xfrm>
            <a:off x="1019175" y="3532653"/>
            <a:ext cx="106934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86338A0-37E0-B80E-8F3C-C49189383A54}"/>
              </a:ext>
            </a:extLst>
          </p:cNvPr>
          <p:cNvSpPr txBox="1"/>
          <p:nvPr/>
        </p:nvSpPr>
        <p:spPr>
          <a:xfrm>
            <a:off x="1019175" y="1591056"/>
            <a:ext cx="1069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000" b="1" dirty="0">
                <a:latin typeface="Arial" panose="020B0604020202020204" pitchFamily="34" charset="0"/>
                <a:cs typeface="Arial" panose="020B0604020202020204" pitchFamily="34" charset="0"/>
              </a:rPr>
              <a:t>Projekt i tim</a:t>
            </a:r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						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7006B1-757E-12FE-5969-BE258164C96A}"/>
              </a:ext>
            </a:extLst>
          </p:cNvPr>
          <p:cNvSpPr txBox="1"/>
          <p:nvPr/>
        </p:nvSpPr>
        <p:spPr>
          <a:xfrm>
            <a:off x="1019175" y="2286184"/>
            <a:ext cx="1069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000" b="1" dirty="0">
                <a:latin typeface="Arial" panose="020B0604020202020204" pitchFamily="34" charset="0"/>
                <a:cs typeface="Arial" panose="020B0604020202020204" pitchFamily="34" charset="0"/>
              </a:rPr>
              <a:t>Pregled zahtjeva</a:t>
            </a:r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	                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FEEADC-C62D-A3B9-D360-EBE660AA552E}"/>
              </a:ext>
            </a:extLst>
          </p:cNvPr>
          <p:cNvSpPr txBox="1"/>
          <p:nvPr/>
        </p:nvSpPr>
        <p:spPr>
          <a:xfrm>
            <a:off x="1019175" y="2983793"/>
            <a:ext cx="1069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000" b="1" dirty="0">
                <a:latin typeface="Arial" panose="020B0604020202020204" pitchFamily="34" charset="0"/>
                <a:cs typeface="Arial" panose="020B0604020202020204" pitchFamily="34" charset="0"/>
              </a:rPr>
              <a:t>Korišteni alati i tehnologije</a:t>
            </a:r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	         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240EC5-4CD5-DAD7-1E5A-C9B440C9ADEA}"/>
              </a:ext>
            </a:extLst>
          </p:cNvPr>
          <p:cNvSpPr txBox="1"/>
          <p:nvPr/>
        </p:nvSpPr>
        <p:spPr>
          <a:xfrm>
            <a:off x="1019175" y="3681402"/>
            <a:ext cx="1069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000" b="1" dirty="0">
                <a:latin typeface="Arial" panose="020B0604020202020204" pitchFamily="34" charset="0"/>
                <a:cs typeface="Arial" panose="020B0604020202020204" pitchFamily="34" charset="0"/>
              </a:rPr>
              <a:t>Arhitektura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2FC996-55A3-BFED-1269-DDB52203C550}"/>
              </a:ext>
            </a:extLst>
          </p:cNvPr>
          <p:cNvSpPr txBox="1"/>
          <p:nvPr/>
        </p:nvSpPr>
        <p:spPr>
          <a:xfrm>
            <a:off x="651374" y="1557798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F27B46-993D-C5DF-FE23-34A00E0D929F}"/>
              </a:ext>
            </a:extLst>
          </p:cNvPr>
          <p:cNvSpPr txBox="1"/>
          <p:nvPr/>
        </p:nvSpPr>
        <p:spPr>
          <a:xfrm>
            <a:off x="651374" y="2954122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2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223F63-E721-AD51-F4EA-45E6242593C4}"/>
              </a:ext>
            </a:extLst>
          </p:cNvPr>
          <p:cNvSpPr txBox="1"/>
          <p:nvPr/>
        </p:nvSpPr>
        <p:spPr>
          <a:xfrm>
            <a:off x="651374" y="2255960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CEB205-4D29-5997-781A-A82C29DCF214}"/>
              </a:ext>
            </a:extLst>
          </p:cNvPr>
          <p:cNvSpPr txBox="1"/>
          <p:nvPr/>
        </p:nvSpPr>
        <p:spPr>
          <a:xfrm>
            <a:off x="651374" y="3652284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24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Picture 4" descr="MANDphy - home - Matematička analiza i numeričke metode za ...">
            <a:extLst>
              <a:ext uri="{FF2B5EF4-FFF2-40B4-BE49-F238E27FC236}">
                <a16:creationId xmlns:a16="http://schemas.microsoft.com/office/drawing/2014/main" id="{BB54D1D3-4FD8-C855-4434-EAAB228E49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28170" r="60194" b="27559"/>
          <a:stretch>
            <a:fillRect/>
          </a:stretch>
        </p:blipFill>
        <p:spPr bwMode="auto">
          <a:xfrm>
            <a:off x="5833178" y="6492875"/>
            <a:ext cx="525644" cy="223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36A220-5375-889B-6EFE-778818DBA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5E352-14E0-4427-8970-F488F895D55B}" type="datetime1">
              <a:rPr lang="hr-HR" smtClean="0"/>
              <a:t>23.1.2026.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D0C625-344E-F3CC-7CAC-E8E4A920A680}"/>
              </a:ext>
            </a:extLst>
          </p:cNvPr>
          <p:cNvSpPr txBox="1"/>
          <p:nvPr/>
        </p:nvSpPr>
        <p:spPr>
          <a:xfrm>
            <a:off x="10805309" y="1591056"/>
            <a:ext cx="8104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3 min</a:t>
            </a:r>
            <a:endParaRPr 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B94DB7-B138-D29F-252C-1F07D6827BEA}"/>
              </a:ext>
            </a:extLst>
          </p:cNvPr>
          <p:cNvSpPr txBox="1"/>
          <p:nvPr/>
        </p:nvSpPr>
        <p:spPr>
          <a:xfrm>
            <a:off x="10805310" y="2288330"/>
            <a:ext cx="8104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4 min</a:t>
            </a:r>
            <a:endParaRPr lang="en-US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862952-1ACD-1998-EEA6-4CB7DFDAE202}"/>
              </a:ext>
            </a:extLst>
          </p:cNvPr>
          <p:cNvSpPr txBox="1"/>
          <p:nvPr/>
        </p:nvSpPr>
        <p:spPr>
          <a:xfrm>
            <a:off x="10805310" y="2985604"/>
            <a:ext cx="8104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3 min</a:t>
            </a:r>
            <a:endParaRPr lang="en-US" sz="20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F14C599-C65D-9CF3-7260-0510E2FA8131}"/>
              </a:ext>
            </a:extLst>
          </p:cNvPr>
          <p:cNvCxnSpPr/>
          <p:nvPr/>
        </p:nvCxnSpPr>
        <p:spPr>
          <a:xfrm>
            <a:off x="576262" y="4298079"/>
            <a:ext cx="0" cy="561975"/>
          </a:xfrm>
          <a:prstGeom prst="line">
            <a:avLst/>
          </a:prstGeom>
          <a:ln w="539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4078391-C387-E717-3FCF-8262AC045617}"/>
              </a:ext>
            </a:extLst>
          </p:cNvPr>
          <p:cNvCxnSpPr>
            <a:cxnSpLocks/>
          </p:cNvCxnSpPr>
          <p:nvPr/>
        </p:nvCxnSpPr>
        <p:spPr>
          <a:xfrm>
            <a:off x="1019175" y="4230262"/>
            <a:ext cx="106934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3655BA0-0770-24C7-E391-8D22BE3B32BB}"/>
              </a:ext>
            </a:extLst>
          </p:cNvPr>
          <p:cNvSpPr txBox="1"/>
          <p:nvPr/>
        </p:nvSpPr>
        <p:spPr>
          <a:xfrm>
            <a:off x="1019175" y="4379011"/>
            <a:ext cx="1069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000" b="1" dirty="0">
                <a:latin typeface="Arial" panose="020B0604020202020204" pitchFamily="34" charset="0"/>
                <a:cs typeface="Arial" panose="020B0604020202020204" pitchFamily="34" charset="0"/>
              </a:rPr>
              <a:t>Organizacija rada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4DE768-F5FC-BD21-B532-C6195946B9D6}"/>
              </a:ext>
            </a:extLst>
          </p:cNvPr>
          <p:cNvSpPr txBox="1"/>
          <p:nvPr/>
        </p:nvSpPr>
        <p:spPr>
          <a:xfrm>
            <a:off x="651374" y="4350446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24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ED8C53-BD17-EB34-9830-C3AEE268AFE1}"/>
              </a:ext>
            </a:extLst>
          </p:cNvPr>
          <p:cNvCxnSpPr>
            <a:cxnSpLocks/>
          </p:cNvCxnSpPr>
          <p:nvPr/>
        </p:nvCxnSpPr>
        <p:spPr>
          <a:xfrm>
            <a:off x="576262" y="4995688"/>
            <a:ext cx="0" cy="561975"/>
          </a:xfrm>
          <a:prstGeom prst="line">
            <a:avLst/>
          </a:prstGeom>
          <a:ln w="539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CBD3738-7CF6-7851-C8EA-D80A707E6013}"/>
              </a:ext>
            </a:extLst>
          </p:cNvPr>
          <p:cNvCxnSpPr>
            <a:cxnSpLocks/>
          </p:cNvCxnSpPr>
          <p:nvPr/>
        </p:nvCxnSpPr>
        <p:spPr>
          <a:xfrm>
            <a:off x="1019175" y="4927870"/>
            <a:ext cx="106934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9EB6F2E-2346-FA0A-3325-D7E9242DFCDA}"/>
              </a:ext>
            </a:extLst>
          </p:cNvPr>
          <p:cNvSpPr txBox="1"/>
          <p:nvPr/>
        </p:nvSpPr>
        <p:spPr>
          <a:xfrm>
            <a:off x="1019175" y="5076620"/>
            <a:ext cx="1069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000" b="1" dirty="0">
                <a:latin typeface="Arial" panose="020B0604020202020204" pitchFamily="34" charset="0"/>
                <a:cs typeface="Arial" panose="020B0604020202020204" pitchFamily="34" charset="0"/>
              </a:rPr>
              <a:t>Iskustva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8B28D9-6FE7-5BAC-00A3-E1957F757AB3}"/>
              </a:ext>
            </a:extLst>
          </p:cNvPr>
          <p:cNvSpPr txBox="1"/>
          <p:nvPr/>
        </p:nvSpPr>
        <p:spPr>
          <a:xfrm>
            <a:off x="651374" y="5048609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24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96A7CA-E63D-2130-64FE-F8127EC2E803}"/>
              </a:ext>
            </a:extLst>
          </p:cNvPr>
          <p:cNvSpPr txBox="1"/>
          <p:nvPr/>
        </p:nvSpPr>
        <p:spPr>
          <a:xfrm>
            <a:off x="10805309" y="3682878"/>
            <a:ext cx="8104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3 min</a:t>
            </a:r>
            <a:endParaRPr lang="en-US" sz="2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4D76B9-F91E-0848-23B3-7EC13B0F7BA4}"/>
              </a:ext>
            </a:extLst>
          </p:cNvPr>
          <p:cNvSpPr txBox="1"/>
          <p:nvPr/>
        </p:nvSpPr>
        <p:spPr>
          <a:xfrm>
            <a:off x="10805309" y="4380152"/>
            <a:ext cx="8104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3 min</a:t>
            </a:r>
            <a:endParaRPr lang="en-US" sz="2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0776D0-02B9-3D57-C7F4-96F964C57B98}"/>
              </a:ext>
            </a:extLst>
          </p:cNvPr>
          <p:cNvSpPr txBox="1"/>
          <p:nvPr/>
        </p:nvSpPr>
        <p:spPr>
          <a:xfrm>
            <a:off x="10805309" y="5077428"/>
            <a:ext cx="8104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3 min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08017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23B22-8AEA-93D2-C724-C7CE037CE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2800" dirty="0">
                <a:latin typeface="Georgia" panose="02040502050405020303" pitchFamily="18" charset="0"/>
              </a:rPr>
              <a:t>Članovi tima</a:t>
            </a:r>
            <a:endParaRPr lang="en-US" sz="2800" dirty="0">
              <a:latin typeface="Georgia" panose="02040502050405020303" pitchFamily="18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B62CED5-D3FD-176D-37D6-0463781D7282}"/>
              </a:ext>
            </a:extLst>
          </p:cNvPr>
          <p:cNvSpPr txBox="1">
            <a:spLocks/>
          </p:cNvSpPr>
          <p:nvPr/>
        </p:nvSpPr>
        <p:spPr>
          <a:xfrm>
            <a:off x="360000" y="6356350"/>
            <a:ext cx="18974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G7.01 Programsko Inženjerstvo</a:t>
            </a:r>
            <a:endParaRPr 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2F4B804-C903-E052-DC68-6538F4D63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2000" y="6356350"/>
            <a:ext cx="2743200" cy="365125"/>
          </a:xfrm>
        </p:spPr>
        <p:txBody>
          <a:bodyPr/>
          <a:lstStyle/>
          <a:p>
            <a:pPr lvl="1" algn="r"/>
            <a:fld id="{CFD40E17-5F22-405C-8E91-999647307EF5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lvl="1" algn="r"/>
              <a:t>3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A19CBB5-92CD-FD31-C67F-D9D9C7419155}"/>
              </a:ext>
            </a:extLst>
          </p:cNvPr>
          <p:cNvSpPr/>
          <p:nvPr/>
        </p:nvSpPr>
        <p:spPr>
          <a:xfrm>
            <a:off x="442913" y="1988282"/>
            <a:ext cx="1440000" cy="144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6BB57CC-4A77-5F48-8D56-03D8268F0597}"/>
              </a:ext>
            </a:extLst>
          </p:cNvPr>
          <p:cNvSpPr/>
          <p:nvPr/>
        </p:nvSpPr>
        <p:spPr>
          <a:xfrm>
            <a:off x="2110944" y="2006037"/>
            <a:ext cx="1440000" cy="144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47ED00B-1196-A6D5-78EC-023C257C9045}"/>
              </a:ext>
            </a:extLst>
          </p:cNvPr>
          <p:cNvSpPr/>
          <p:nvPr/>
        </p:nvSpPr>
        <p:spPr>
          <a:xfrm>
            <a:off x="3778975" y="1988282"/>
            <a:ext cx="1440000" cy="144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676A9BF-CEBC-6A6E-DB10-F75B456FDCCE}"/>
              </a:ext>
            </a:extLst>
          </p:cNvPr>
          <p:cNvSpPr/>
          <p:nvPr/>
        </p:nvSpPr>
        <p:spPr>
          <a:xfrm>
            <a:off x="5447006" y="2006037"/>
            <a:ext cx="1440000" cy="144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E30F7C4-3178-8CF2-1603-E2E4462E9636}"/>
              </a:ext>
            </a:extLst>
          </p:cNvPr>
          <p:cNvSpPr/>
          <p:nvPr/>
        </p:nvSpPr>
        <p:spPr>
          <a:xfrm>
            <a:off x="7115037" y="1988282"/>
            <a:ext cx="1440000" cy="144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1448A3A-3D43-B1A9-4CE9-F985125A9DB4}"/>
              </a:ext>
            </a:extLst>
          </p:cNvPr>
          <p:cNvSpPr/>
          <p:nvPr/>
        </p:nvSpPr>
        <p:spPr>
          <a:xfrm>
            <a:off x="10451100" y="1988282"/>
            <a:ext cx="1440000" cy="144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5FF2657-957D-4E01-7461-0EF86F909A70}"/>
              </a:ext>
            </a:extLst>
          </p:cNvPr>
          <p:cNvSpPr/>
          <p:nvPr/>
        </p:nvSpPr>
        <p:spPr>
          <a:xfrm>
            <a:off x="8783068" y="1988282"/>
            <a:ext cx="1440000" cy="144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C58F51-E79B-7D98-9B2F-F5B056A1D525}"/>
              </a:ext>
            </a:extLst>
          </p:cNvPr>
          <p:cNvSpPr txBox="1"/>
          <p:nvPr/>
        </p:nvSpPr>
        <p:spPr>
          <a:xfrm>
            <a:off x="506749" y="3473887"/>
            <a:ext cx="1312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1200" b="1" dirty="0">
                <a:latin typeface="Arial" panose="020B0604020202020204" pitchFamily="34" charset="0"/>
                <a:cs typeface="Arial" panose="020B0604020202020204" pitchFamily="34" charset="0"/>
              </a:rPr>
              <a:t>Luka </a:t>
            </a:r>
            <a:r>
              <a:rPr lang="hr-HR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Bubnjević</a:t>
            </a:r>
            <a:endParaRPr lang="hr-H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7772E8-2188-CC1B-26D4-7924FB17FCDB}"/>
              </a:ext>
            </a:extLst>
          </p:cNvPr>
          <p:cNvSpPr txBox="1"/>
          <p:nvPr/>
        </p:nvSpPr>
        <p:spPr>
          <a:xfrm>
            <a:off x="8837059" y="3472124"/>
            <a:ext cx="13320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1200" dirty="0">
                <a:latin typeface="Arial" panose="020B0604020202020204" pitchFamily="34" charset="0"/>
                <a:cs typeface="Arial" panose="020B0604020202020204" pitchFamily="34" charset="0"/>
              </a:rPr>
              <a:t>Krešimir </a:t>
            </a:r>
            <a:r>
              <a:rPr lang="hr-HR" sz="1200" dirty="0" err="1">
                <a:latin typeface="Arial" panose="020B0604020202020204" pitchFamily="34" charset="0"/>
                <a:cs typeface="Arial" panose="020B0604020202020204" pitchFamily="34" charset="0"/>
              </a:rPr>
              <a:t>Kantolić</a:t>
            </a:r>
            <a:endParaRPr lang="hr-H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C6C081B-7C01-B997-06B0-92EE41E915AB}"/>
              </a:ext>
            </a:extLst>
          </p:cNvPr>
          <p:cNvSpPr txBox="1"/>
          <p:nvPr/>
        </p:nvSpPr>
        <p:spPr>
          <a:xfrm>
            <a:off x="7223020" y="3473887"/>
            <a:ext cx="12240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1200" dirty="0">
                <a:latin typeface="Arial" panose="020B0604020202020204" pitchFamily="34" charset="0"/>
                <a:cs typeface="Arial" panose="020B0604020202020204" pitchFamily="34" charset="0"/>
              </a:rPr>
              <a:t>Ivan Dražetić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BBCB4C-3940-CED9-9198-231E2808D76F}"/>
              </a:ext>
            </a:extLst>
          </p:cNvPr>
          <p:cNvSpPr txBox="1"/>
          <p:nvPr/>
        </p:nvSpPr>
        <p:spPr>
          <a:xfrm>
            <a:off x="5500997" y="3484387"/>
            <a:ext cx="13320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1200" dirty="0">
                <a:latin typeface="Arial" panose="020B0604020202020204" pitchFamily="34" charset="0"/>
                <a:cs typeface="Arial" panose="020B0604020202020204" pitchFamily="34" charset="0"/>
              </a:rPr>
              <a:t>Ivan Draženović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77B22E-0F9F-0F89-EC3D-0AA760A2AB0A}"/>
              </a:ext>
            </a:extLst>
          </p:cNvPr>
          <p:cNvSpPr txBox="1"/>
          <p:nvPr/>
        </p:nvSpPr>
        <p:spPr>
          <a:xfrm>
            <a:off x="3886958" y="3473887"/>
            <a:ext cx="12240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1200" dirty="0">
                <a:latin typeface="Arial" panose="020B0604020202020204" pitchFamily="34" charset="0"/>
                <a:cs typeface="Arial" panose="020B0604020202020204" pitchFamily="34" charset="0"/>
              </a:rPr>
              <a:t>Renato </a:t>
            </a:r>
            <a:r>
              <a:rPr lang="hr-HR" sz="1200" dirty="0" err="1">
                <a:latin typeface="Arial" panose="020B0604020202020204" pitchFamily="34" charset="0"/>
                <a:cs typeface="Arial" panose="020B0604020202020204" pitchFamily="34" charset="0"/>
              </a:rPr>
              <a:t>Dolić</a:t>
            </a:r>
            <a:endParaRPr lang="hr-H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27583B-0809-F96F-B10A-B772D09ED3F8}"/>
              </a:ext>
            </a:extLst>
          </p:cNvPr>
          <p:cNvSpPr txBox="1"/>
          <p:nvPr/>
        </p:nvSpPr>
        <p:spPr>
          <a:xfrm>
            <a:off x="2110944" y="3484387"/>
            <a:ext cx="14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1200" dirty="0">
                <a:latin typeface="Arial" panose="020B0604020202020204" pitchFamily="34" charset="0"/>
                <a:cs typeface="Arial" panose="020B0604020202020204" pitchFamily="34" charset="0"/>
              </a:rPr>
              <a:t>Damjan Crnković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B5BAF3-2382-A7AC-B5EA-5A6ACA7E5DD4}"/>
              </a:ext>
            </a:extLst>
          </p:cNvPr>
          <p:cNvSpPr txBox="1"/>
          <p:nvPr/>
        </p:nvSpPr>
        <p:spPr>
          <a:xfrm>
            <a:off x="10451100" y="3472124"/>
            <a:ext cx="14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1200" dirty="0">
                <a:latin typeface="Arial" panose="020B0604020202020204" pitchFamily="34" charset="0"/>
                <a:cs typeface="Arial" panose="020B0604020202020204" pitchFamily="34" charset="0"/>
              </a:rPr>
              <a:t>Niko </a:t>
            </a:r>
            <a:r>
              <a:rPr lang="hr-HR" sz="1200" dirty="0" err="1">
                <a:latin typeface="Arial" panose="020B0604020202020204" pitchFamily="34" charset="0"/>
                <a:cs typeface="Arial" panose="020B0604020202020204" pitchFamily="34" charset="0"/>
              </a:rPr>
              <a:t>Kalle</a:t>
            </a:r>
            <a:r>
              <a:rPr lang="hr-HR" sz="1200" dirty="0">
                <a:latin typeface="Arial" panose="020B0604020202020204" pitchFamily="34" charset="0"/>
                <a:cs typeface="Arial" panose="020B0604020202020204" pitchFamily="34" charset="0"/>
              </a:rPr>
              <a:t> Zirdum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89D8FE5-AAC1-5350-38AC-89F25BD4ABC7}"/>
              </a:ext>
            </a:extLst>
          </p:cNvPr>
          <p:cNvSpPr/>
          <p:nvPr/>
        </p:nvSpPr>
        <p:spPr>
          <a:xfrm>
            <a:off x="442913" y="3969921"/>
            <a:ext cx="1440000" cy="438527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hr-H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</a:t>
            </a:r>
            <a:endParaRPr lang="hr-H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hr-H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Back-end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133945F-0078-C15E-0C3F-8F781F1C170B}"/>
              </a:ext>
            </a:extLst>
          </p:cNvPr>
          <p:cNvSpPr/>
          <p:nvPr/>
        </p:nvSpPr>
        <p:spPr>
          <a:xfrm>
            <a:off x="2110944" y="3969921"/>
            <a:ext cx="1440000" cy="438527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Baze podataka</a:t>
            </a:r>
          </a:p>
          <a:p>
            <a:pPr algn="ctr"/>
            <a:r>
              <a:rPr lang="hr-H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Front-</a:t>
            </a:r>
            <a:r>
              <a:rPr lang="hr-H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DB7EE81-31AD-101A-71FA-5810A871080C}"/>
              </a:ext>
            </a:extLst>
          </p:cNvPr>
          <p:cNvSpPr/>
          <p:nvPr/>
        </p:nvSpPr>
        <p:spPr>
          <a:xfrm>
            <a:off x="3778975" y="3969921"/>
            <a:ext cx="1440000" cy="438527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Back-end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1018E70-4773-2B81-BEBE-10178372AC50}"/>
              </a:ext>
            </a:extLst>
          </p:cNvPr>
          <p:cNvSpPr/>
          <p:nvPr/>
        </p:nvSpPr>
        <p:spPr>
          <a:xfrm>
            <a:off x="5447006" y="3969921"/>
            <a:ext cx="1440000" cy="438527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Front-</a:t>
            </a:r>
            <a:r>
              <a:rPr lang="hr-H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0DAF730-A7D9-4BEE-4602-12402C30BFB1}"/>
              </a:ext>
            </a:extLst>
          </p:cNvPr>
          <p:cNvSpPr/>
          <p:nvPr/>
        </p:nvSpPr>
        <p:spPr>
          <a:xfrm>
            <a:off x="7115037" y="3969921"/>
            <a:ext cx="1440000" cy="438527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Dokumentacija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D0196DA-CF95-8E35-D350-C484AA5657EF}"/>
              </a:ext>
            </a:extLst>
          </p:cNvPr>
          <p:cNvSpPr/>
          <p:nvPr/>
        </p:nvSpPr>
        <p:spPr>
          <a:xfrm>
            <a:off x="8783068" y="3969921"/>
            <a:ext cx="1440000" cy="438527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Front-</a:t>
            </a:r>
            <a:r>
              <a:rPr lang="hr-H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10F9BD7-DF55-307D-0299-7652F8AE2FAB}"/>
              </a:ext>
            </a:extLst>
          </p:cNvPr>
          <p:cNvSpPr/>
          <p:nvPr/>
        </p:nvSpPr>
        <p:spPr>
          <a:xfrm>
            <a:off x="10451100" y="3969921"/>
            <a:ext cx="1440000" cy="438527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Back-end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4" name="Picture 4" descr="MANDphy - home - Matematička analiza i numeričke metode za ...">
            <a:extLst>
              <a:ext uri="{FF2B5EF4-FFF2-40B4-BE49-F238E27FC236}">
                <a16:creationId xmlns:a16="http://schemas.microsoft.com/office/drawing/2014/main" id="{06689182-0B00-9445-35F5-F7DB9B14C6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28170" r="60194" b="27559"/>
          <a:stretch>
            <a:fillRect/>
          </a:stretch>
        </p:blipFill>
        <p:spPr bwMode="auto">
          <a:xfrm>
            <a:off x="5833178" y="6492875"/>
            <a:ext cx="525644" cy="223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032555D-7958-3DDE-EF02-820374A4C3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006" y="2312037"/>
            <a:ext cx="828000" cy="828000"/>
          </a:xfrm>
          <a:prstGeom prst="rect">
            <a:avLst/>
          </a:prstGeom>
        </p:spPr>
      </p:pic>
      <p:pic>
        <p:nvPicPr>
          <p:cNvPr id="51" name="Picture 5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F9D2D50-83A5-DF39-8635-D7A6F06AE5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9068" y="2294282"/>
            <a:ext cx="828000" cy="828000"/>
          </a:xfrm>
          <a:prstGeom prst="rect">
            <a:avLst/>
          </a:prstGeom>
        </p:spPr>
      </p:pic>
      <p:pic>
        <p:nvPicPr>
          <p:cNvPr id="53" name="Picture 5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688AB95-7E73-BCD4-522A-5C29A1C783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152" y="2484834"/>
            <a:ext cx="540792" cy="540792"/>
          </a:xfrm>
          <a:prstGeom prst="rect">
            <a:avLst/>
          </a:prstGeom>
        </p:spPr>
      </p:pic>
      <p:pic>
        <p:nvPicPr>
          <p:cNvPr id="55" name="Picture 5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F491C3E-3F66-8CC2-6AEB-6D88AA23D3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4975" y="2294282"/>
            <a:ext cx="828000" cy="828000"/>
          </a:xfrm>
          <a:prstGeom prst="rect">
            <a:avLst/>
          </a:prstGeom>
        </p:spPr>
      </p:pic>
      <p:pic>
        <p:nvPicPr>
          <p:cNvPr id="60" name="Picture 5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7FA3CFB-4C46-9DB8-6F63-E3DE86D39B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1037" y="2294282"/>
            <a:ext cx="828000" cy="828000"/>
          </a:xfrm>
          <a:prstGeom prst="rect">
            <a:avLst/>
          </a:prstGeom>
        </p:spPr>
      </p:pic>
      <p:pic>
        <p:nvPicPr>
          <p:cNvPr id="61" name="Picture 6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4EDC14A-7C52-889B-52A6-7D2CC6F622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7100" y="2294282"/>
            <a:ext cx="828000" cy="828000"/>
          </a:xfrm>
          <a:prstGeom prst="rect">
            <a:avLst/>
          </a:prstGeom>
        </p:spPr>
      </p:pic>
      <p:pic>
        <p:nvPicPr>
          <p:cNvPr id="63" name="Picture 6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2E19FEE-DC8F-8CFE-D0DA-D849FAB18C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913" y="2294282"/>
            <a:ext cx="828000" cy="82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704E687-94F5-FC25-8205-6241DF071763}"/>
              </a:ext>
            </a:extLst>
          </p:cNvPr>
          <p:cNvSpPr/>
          <p:nvPr/>
        </p:nvSpPr>
        <p:spPr>
          <a:xfrm>
            <a:off x="2325581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Pregled zahtjeva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14A269E-F766-582B-0192-47EE8C22211B}"/>
              </a:ext>
            </a:extLst>
          </p:cNvPr>
          <p:cNvSpPr/>
          <p:nvPr/>
        </p:nvSpPr>
        <p:spPr>
          <a:xfrm>
            <a:off x="410666" y="0"/>
            <a:ext cx="1796092" cy="3683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Projekt i tim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3057318-F8F2-DB0E-283B-1E6F872B348F}"/>
              </a:ext>
            </a:extLst>
          </p:cNvPr>
          <p:cNvSpPr/>
          <p:nvPr/>
        </p:nvSpPr>
        <p:spPr>
          <a:xfrm>
            <a:off x="4240496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Korišteni alati i tehnologije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5B62CBF-A3F5-B162-C31C-4FD0AE38BA86}"/>
              </a:ext>
            </a:extLst>
          </p:cNvPr>
          <p:cNvSpPr/>
          <p:nvPr/>
        </p:nvSpPr>
        <p:spPr>
          <a:xfrm>
            <a:off x="6155411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Arhitektura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1CFEB73-FB0D-9FBB-B5A0-E9DC186F197A}"/>
              </a:ext>
            </a:extLst>
          </p:cNvPr>
          <p:cNvSpPr/>
          <p:nvPr/>
        </p:nvSpPr>
        <p:spPr>
          <a:xfrm>
            <a:off x="9985242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Iskustva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0750C4F-14AE-46EE-0AFF-350645DEB141}"/>
              </a:ext>
            </a:extLst>
          </p:cNvPr>
          <p:cNvSpPr/>
          <p:nvPr/>
        </p:nvSpPr>
        <p:spPr>
          <a:xfrm>
            <a:off x="8070326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Organizacija rada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2AD6D42-1754-391E-8A4B-41B60956DC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998" y="2544874"/>
            <a:ext cx="429892" cy="42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959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FAF42A1-3FC8-5E7E-104C-11E91F283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r-HR" sz="2800" noProof="0" dirty="0">
                <a:latin typeface="Georgia" panose="02040502050405020303" pitchFamily="18" charset="0"/>
              </a:rPr>
              <a:t>Opis projekta</a:t>
            </a:r>
          </a:p>
        </p:txBody>
      </p:sp>
      <p:pic>
        <p:nvPicPr>
          <p:cNvPr id="8" name="Picture 4" descr="MANDphy - home - Matematička analiza i numeričke metode za ...">
            <a:extLst>
              <a:ext uri="{FF2B5EF4-FFF2-40B4-BE49-F238E27FC236}">
                <a16:creationId xmlns:a16="http://schemas.microsoft.com/office/drawing/2014/main" id="{67FA55AF-495F-855A-51B1-6882B784B4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28170" r="60194" b="27559"/>
          <a:stretch>
            <a:fillRect/>
          </a:stretch>
        </p:blipFill>
        <p:spPr bwMode="auto">
          <a:xfrm>
            <a:off x="5833178" y="6492875"/>
            <a:ext cx="525644" cy="223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422BCF6-977A-D93C-A227-6216EEFF3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2000" y="6356350"/>
            <a:ext cx="2743200" cy="365125"/>
          </a:xfrm>
        </p:spPr>
        <p:txBody>
          <a:bodyPr/>
          <a:lstStyle/>
          <a:p>
            <a:pPr lvl="1" algn="r"/>
            <a:fld id="{CFD40E17-5F22-405C-8E91-999647307EF5}" type="slidenum">
              <a:rPr lang="hr-HR" sz="900" noProof="0" smtClean="0">
                <a:latin typeface="Arial" panose="020B0604020202020204" pitchFamily="34" charset="0"/>
                <a:cs typeface="Arial" panose="020B0604020202020204" pitchFamily="34" charset="0"/>
              </a:rPr>
              <a:pPr lvl="1" algn="r"/>
              <a:t>4</a:t>
            </a:fld>
            <a:endParaRPr lang="hr-HR" sz="9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50A8-6380-FEAB-DB95-51A998221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B67A8-EE6E-4A5E-BBF8-392A446D18D4}" type="datetime1">
              <a:rPr lang="hr-HR" noProof="0" smtClean="0"/>
              <a:t>23.1.2026.</a:t>
            </a:fld>
            <a:endParaRPr lang="hr-HR" noProof="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5550D8E-0A43-C930-FD14-C55B2436CEF6}"/>
              </a:ext>
            </a:extLst>
          </p:cNvPr>
          <p:cNvSpPr/>
          <p:nvPr/>
        </p:nvSpPr>
        <p:spPr>
          <a:xfrm>
            <a:off x="2325581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noProof="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Pregled zahtjeva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331FFCA-DBC1-8259-866F-200E2622B607}"/>
              </a:ext>
            </a:extLst>
          </p:cNvPr>
          <p:cNvSpPr/>
          <p:nvPr/>
        </p:nvSpPr>
        <p:spPr>
          <a:xfrm>
            <a:off x="410666" y="0"/>
            <a:ext cx="1796092" cy="3683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Projekt i tim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9B44CF8-D1B8-B462-8FD1-DF23951E0CDF}"/>
              </a:ext>
            </a:extLst>
          </p:cNvPr>
          <p:cNvSpPr/>
          <p:nvPr/>
        </p:nvSpPr>
        <p:spPr>
          <a:xfrm>
            <a:off x="4240496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noProof="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Korišteni alati i tehnologije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D51F366-69C4-47B1-7F30-0674F1A529A1}"/>
              </a:ext>
            </a:extLst>
          </p:cNvPr>
          <p:cNvSpPr/>
          <p:nvPr/>
        </p:nvSpPr>
        <p:spPr>
          <a:xfrm>
            <a:off x="6155411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noProof="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Arhitektura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2E935B1-D9A0-352A-B8A7-0BAA0BD0DBB6}"/>
              </a:ext>
            </a:extLst>
          </p:cNvPr>
          <p:cNvSpPr/>
          <p:nvPr/>
        </p:nvSpPr>
        <p:spPr>
          <a:xfrm>
            <a:off x="9985242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noProof="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Iskustva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36FB254-60D3-4A43-BB69-67EDF00EBD68}"/>
              </a:ext>
            </a:extLst>
          </p:cNvPr>
          <p:cNvSpPr/>
          <p:nvPr/>
        </p:nvSpPr>
        <p:spPr>
          <a:xfrm>
            <a:off x="8070326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noProof="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Organizacija rada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D4E9A7-2F95-DFB2-8696-7A4FFA718CE7}"/>
              </a:ext>
            </a:extLst>
          </p:cNvPr>
          <p:cNvSpPr txBox="1"/>
          <p:nvPr/>
        </p:nvSpPr>
        <p:spPr>
          <a:xfrm>
            <a:off x="410666" y="1690688"/>
            <a:ext cx="113706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b="1" noProof="0" dirty="0" err="1"/>
              <a:t>CareFree</a:t>
            </a:r>
            <a:r>
              <a:rPr lang="hr-HR" noProof="0" dirty="0"/>
              <a:t> je web aplikacija koja studentima pruža siguran, anoniman i brzo dostupan kanal za psihološku podršku. </a:t>
            </a:r>
            <a:r>
              <a:rPr lang="hr-HR" b="1" noProof="0" dirty="0"/>
              <a:t>Kombinira AI-agenta </a:t>
            </a:r>
            <a:r>
              <a:rPr lang="hr-HR" noProof="0" dirty="0"/>
              <a:t>za inicijalnu procjenu s mogućnošću povezivanja sa </a:t>
            </a:r>
            <a:r>
              <a:rPr lang="hr-HR" b="1" noProof="0" dirty="0"/>
              <a:t>licenciranim psihološkim stručnjacima.</a:t>
            </a:r>
          </a:p>
          <a:p>
            <a:endParaRPr lang="hr-HR" noProof="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78F103-F49A-483B-6E24-76710230E2DF}"/>
              </a:ext>
            </a:extLst>
          </p:cNvPr>
          <p:cNvSpPr txBox="1"/>
          <p:nvPr/>
        </p:nvSpPr>
        <p:spPr>
          <a:xfrm>
            <a:off x="410666" y="2812822"/>
            <a:ext cx="113706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noProof="0" dirty="0"/>
              <a:t>Mnogi studenti </a:t>
            </a:r>
            <a:r>
              <a:rPr lang="hr-HR" b="1" noProof="0" dirty="0"/>
              <a:t>izbjegavaju</a:t>
            </a:r>
            <a:r>
              <a:rPr lang="hr-HR" noProof="0" dirty="0"/>
              <a:t> tražiti stručnu pomoć zbog </a:t>
            </a:r>
            <a:r>
              <a:rPr lang="hr-HR" b="1" noProof="0" dirty="0"/>
              <a:t>stigme, troškova i nedostatka vremena</a:t>
            </a:r>
            <a:r>
              <a:rPr lang="hr-HR" noProof="0" dirty="0"/>
              <a:t>. Fizičke konzultacije zahtijevaju putovanje i zakazivanje, što dodatno otežava pristup potpori. </a:t>
            </a:r>
            <a:r>
              <a:rPr lang="hr-HR" noProof="0" dirty="0" err="1"/>
              <a:t>CareFree</a:t>
            </a:r>
            <a:r>
              <a:rPr lang="hr-HR" noProof="0" dirty="0"/>
              <a:t> rješava ovaj problem nudeći </a:t>
            </a:r>
            <a:r>
              <a:rPr lang="hr-HR" b="1" noProof="0" dirty="0"/>
              <a:t>24/7 podršku</a:t>
            </a:r>
            <a:r>
              <a:rPr lang="hr-HR" noProof="0" dirty="0"/>
              <a:t>, potpunu anonimnost, </a:t>
            </a:r>
            <a:r>
              <a:rPr lang="hr-HR" b="1" noProof="0" dirty="0"/>
              <a:t>besplatnu uslugu </a:t>
            </a:r>
            <a:r>
              <a:rPr lang="hr-HR" noProof="0" dirty="0"/>
              <a:t>i široku ponudu profesionalnih psihologa.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631CF26-D824-5BED-A724-C9C751EC15FC}"/>
              </a:ext>
            </a:extLst>
          </p:cNvPr>
          <p:cNvSpPr/>
          <p:nvPr/>
        </p:nvSpPr>
        <p:spPr>
          <a:xfrm>
            <a:off x="553333" y="3797847"/>
            <a:ext cx="5400000" cy="51304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r-HR" sz="1600" b="1" noProof="0" dirty="0">
                <a:solidFill>
                  <a:schemeClr val="tx1"/>
                </a:solidFill>
              </a:rPr>
              <a:t>Studentsko mentalno zdravlje u krizi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8BFB533-D5E1-FC74-947F-7B2EFAB6A6A9}"/>
              </a:ext>
            </a:extLst>
          </p:cNvPr>
          <p:cNvSpPr/>
          <p:nvPr/>
        </p:nvSpPr>
        <p:spPr>
          <a:xfrm>
            <a:off x="553333" y="4372588"/>
            <a:ext cx="5400000" cy="39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r-HR" sz="1400" noProof="0" dirty="0">
                <a:solidFill>
                  <a:schemeClr val="tx1"/>
                </a:solidFill>
              </a:rPr>
              <a:t>1 od 3 studenta doživljava simptome depresije ili anksioznosti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C670E81-2E77-2274-D432-EBC192AB21F4}"/>
              </a:ext>
            </a:extLst>
          </p:cNvPr>
          <p:cNvSpPr/>
          <p:nvPr/>
        </p:nvSpPr>
        <p:spPr>
          <a:xfrm>
            <a:off x="553333" y="4830284"/>
            <a:ext cx="5400000" cy="39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r-HR" sz="1400" noProof="0" dirty="0">
                <a:solidFill>
                  <a:schemeClr val="tx1"/>
                </a:solidFill>
              </a:rPr>
              <a:t>Većina ne traži pomoć zbog straha od stigme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0100757-CAD7-44B0-3976-7B817418CFF9}"/>
              </a:ext>
            </a:extLst>
          </p:cNvPr>
          <p:cNvSpPr/>
          <p:nvPr/>
        </p:nvSpPr>
        <p:spPr>
          <a:xfrm>
            <a:off x="553333" y="5287980"/>
            <a:ext cx="5400000" cy="39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r-HR" sz="1400" noProof="0" dirty="0">
                <a:solidFill>
                  <a:schemeClr val="tx1"/>
                </a:solidFill>
              </a:rPr>
              <a:t>Dugačka lista čekanja za studentsku psihološku službu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F9BAE8A-95AE-3100-C9B9-250AA1EDA7CC}"/>
              </a:ext>
            </a:extLst>
          </p:cNvPr>
          <p:cNvSpPr/>
          <p:nvPr/>
        </p:nvSpPr>
        <p:spPr>
          <a:xfrm>
            <a:off x="553333" y="5745675"/>
            <a:ext cx="5400000" cy="39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r-HR" sz="1400" noProof="0" dirty="0">
                <a:solidFill>
                  <a:schemeClr val="tx1"/>
                </a:solidFill>
              </a:rPr>
              <a:t>Nedostatak početne procjene koliko je problem ozbiljan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F359564-7B7A-F44E-E347-01A23481F30C}"/>
              </a:ext>
            </a:extLst>
          </p:cNvPr>
          <p:cNvSpPr/>
          <p:nvPr/>
        </p:nvSpPr>
        <p:spPr>
          <a:xfrm>
            <a:off x="6238667" y="3797847"/>
            <a:ext cx="5400000" cy="5130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r-HR" sz="1600" b="1" noProof="0" dirty="0" err="1">
                <a:solidFill>
                  <a:schemeClr val="tx1"/>
                </a:solidFill>
              </a:rPr>
              <a:t>CareFree</a:t>
            </a:r>
            <a:r>
              <a:rPr lang="hr-HR" sz="1600" b="1" noProof="0" dirty="0">
                <a:solidFill>
                  <a:schemeClr val="tx1"/>
                </a:solidFill>
              </a:rPr>
              <a:t> pruža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094AB2B-9BF0-B7BB-FD91-1EE7B4D9F29D}"/>
              </a:ext>
            </a:extLst>
          </p:cNvPr>
          <p:cNvSpPr/>
          <p:nvPr/>
        </p:nvSpPr>
        <p:spPr>
          <a:xfrm>
            <a:off x="6238667" y="4372588"/>
            <a:ext cx="5400000" cy="39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r-HR" sz="1400" noProof="0" dirty="0">
                <a:solidFill>
                  <a:schemeClr val="tx1"/>
                </a:solidFill>
              </a:rPr>
              <a:t>Trenutnu reakciju AI </a:t>
            </a:r>
            <a:r>
              <a:rPr lang="hr-HR" sz="1400" noProof="0" dirty="0" err="1">
                <a:solidFill>
                  <a:schemeClr val="tx1"/>
                </a:solidFill>
              </a:rPr>
              <a:t>chatbota</a:t>
            </a:r>
            <a:r>
              <a:rPr lang="hr-HR" sz="1400" noProof="0" dirty="0">
                <a:solidFill>
                  <a:schemeClr val="tx1"/>
                </a:solidFill>
              </a:rPr>
              <a:t> koji smanjuje osjećaj izolacije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7872E19-FF53-6E6A-3266-123EC0A6E634}"/>
              </a:ext>
            </a:extLst>
          </p:cNvPr>
          <p:cNvSpPr/>
          <p:nvPr/>
        </p:nvSpPr>
        <p:spPr>
          <a:xfrm>
            <a:off x="6238667" y="4830284"/>
            <a:ext cx="5400000" cy="39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r-HR" sz="1400" noProof="0" dirty="0">
                <a:solidFill>
                  <a:schemeClr val="tx1"/>
                </a:solidFill>
              </a:rPr>
              <a:t>Anonimnu procjenu - student može otvoreno govoriti o problemu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F13CE43-C473-EBD3-1B68-503CC7A7B9F1}"/>
              </a:ext>
            </a:extLst>
          </p:cNvPr>
          <p:cNvSpPr/>
          <p:nvPr/>
        </p:nvSpPr>
        <p:spPr>
          <a:xfrm>
            <a:off x="6238667" y="5287980"/>
            <a:ext cx="5400000" cy="39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r-HR" sz="1400" noProof="0" dirty="0">
                <a:solidFill>
                  <a:schemeClr val="tx1"/>
                </a:solidFill>
              </a:rPr>
              <a:t>Automatsku detekciju hitnih slučajeva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4243B9E-65ED-260E-2D3E-CA5D01C6F9C4}"/>
              </a:ext>
            </a:extLst>
          </p:cNvPr>
          <p:cNvSpPr/>
          <p:nvPr/>
        </p:nvSpPr>
        <p:spPr>
          <a:xfrm>
            <a:off x="6238667" y="5745675"/>
            <a:ext cx="5400000" cy="39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r-HR" sz="1400" noProof="0" dirty="0">
                <a:solidFill>
                  <a:schemeClr val="tx1"/>
                </a:solidFill>
              </a:rPr>
              <a:t>Efikasnu podjelu resursa (psiholozi dobivaju AI sažetke i </a:t>
            </a:r>
            <a:r>
              <a:rPr lang="hr-HR" sz="1400" noProof="0" dirty="0" err="1">
                <a:solidFill>
                  <a:schemeClr val="tx1"/>
                </a:solidFill>
              </a:rPr>
              <a:t>prioritizirane</a:t>
            </a:r>
            <a:r>
              <a:rPr lang="hr-HR" sz="1400" noProof="0" dirty="0">
                <a:solidFill>
                  <a:schemeClr val="tx1"/>
                </a:solidFill>
              </a:rPr>
              <a:t> slučajeve)</a:t>
            </a:r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C530B8AD-0B5E-B532-A1BE-5EAD1E8E5E0D}"/>
              </a:ext>
            </a:extLst>
          </p:cNvPr>
          <p:cNvSpPr/>
          <p:nvPr/>
        </p:nvSpPr>
        <p:spPr>
          <a:xfrm>
            <a:off x="6023255" y="3797847"/>
            <a:ext cx="145490" cy="2343827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543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008CE-C7A5-1A66-CEAE-CE5996619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CD27065-5432-603F-9083-06767B6CD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r-HR" sz="2800" dirty="0">
                <a:latin typeface="Georgia" panose="02040502050405020303" pitchFamily="18" charset="0"/>
              </a:rPr>
              <a:t>Funkcijski zahtjevi</a:t>
            </a:r>
            <a:endParaRPr lang="en-US" sz="2800" dirty="0">
              <a:latin typeface="Georgia" panose="02040502050405020303" pitchFamily="18" charset="0"/>
            </a:endParaRPr>
          </a:p>
        </p:txBody>
      </p:sp>
      <p:pic>
        <p:nvPicPr>
          <p:cNvPr id="8" name="Picture 4" descr="MANDphy - home - Matematička analiza i numeričke metode za ...">
            <a:extLst>
              <a:ext uri="{FF2B5EF4-FFF2-40B4-BE49-F238E27FC236}">
                <a16:creationId xmlns:a16="http://schemas.microsoft.com/office/drawing/2014/main" id="{4AC43628-8E16-D25C-73B6-C5689A695E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28170" r="60194" b="27559"/>
          <a:stretch>
            <a:fillRect/>
          </a:stretch>
        </p:blipFill>
        <p:spPr bwMode="auto">
          <a:xfrm>
            <a:off x="5833178" y="6492875"/>
            <a:ext cx="525644" cy="223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53B152E-EC3F-A7BF-47F0-2FCD2566D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2000" y="6356350"/>
            <a:ext cx="2743200" cy="365125"/>
          </a:xfrm>
        </p:spPr>
        <p:txBody>
          <a:bodyPr/>
          <a:lstStyle/>
          <a:p>
            <a:pPr lvl="1" algn="r"/>
            <a:fld id="{CFD40E17-5F22-405C-8E91-999647307EF5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lvl="1" algn="r"/>
              <a:t>5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DC96651-4FEE-AD67-7058-03209570CE05}"/>
              </a:ext>
            </a:extLst>
          </p:cNvPr>
          <p:cNvSpPr/>
          <p:nvPr/>
        </p:nvSpPr>
        <p:spPr>
          <a:xfrm>
            <a:off x="360000" y="2692400"/>
            <a:ext cx="3543300" cy="31750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hr-H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hr-H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 s AI agentom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pregled povijesti razgovora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registracija korisnika, prijava, uređivanje i brisanje računa, resetiranje lozinke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može povezati Google </a:t>
            </a:r>
            <a:r>
              <a:rPr lang="hr-HR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Calendar</a:t>
            </a:r>
            <a:endParaRPr lang="hr-HR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može ocijeniti razgovor s AI/ psihologom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anoniman je drugim studentima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može vidjeti korisničke račune psihologa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2D4E4E1-84CF-374B-D559-765B3A534EA8}"/>
              </a:ext>
            </a:extLst>
          </p:cNvPr>
          <p:cNvSpPr/>
          <p:nvPr/>
        </p:nvSpPr>
        <p:spPr>
          <a:xfrm>
            <a:off x="8288700" y="2692400"/>
            <a:ext cx="3543300" cy="31750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hr-H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hr-H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Administrator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upravlja korisnicima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r-HR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resetiranje lozinke po potrebi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pregled i generiranje statistika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r-HR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 slučaju nepridržavanja pravila može suspendirati studenta ili psihologa</a:t>
            </a:r>
          </a:p>
          <a:p>
            <a:pPr algn="ctr"/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24A6946-4E14-51A6-B678-772D0B6420B2}"/>
              </a:ext>
            </a:extLst>
          </p:cNvPr>
          <p:cNvSpPr/>
          <p:nvPr/>
        </p:nvSpPr>
        <p:spPr>
          <a:xfrm>
            <a:off x="4324350" y="2692400"/>
            <a:ext cx="3543300" cy="31750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hr-H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hr-H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Psiholog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mogu odabrati s kojim studentom žele razgovarati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započinje razgovor sa studentom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r-HR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vide termine online-razgovora sa studentima u kalendaru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može povezati Google </a:t>
            </a:r>
            <a:r>
              <a:rPr kumimoji="0" lang="hr-H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Calendar</a:t>
            </a:r>
            <a:endParaRPr kumimoji="0" lang="hr-H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/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E47EFC6-0637-1FFE-25B8-624439FE6A55}"/>
              </a:ext>
            </a:extLst>
          </p:cNvPr>
          <p:cNvSpPr/>
          <p:nvPr/>
        </p:nvSpPr>
        <p:spPr>
          <a:xfrm>
            <a:off x="1591650" y="1987300"/>
            <a:ext cx="1080000" cy="108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809CC29-4088-A49A-7069-ADF9DF24D1E9}"/>
              </a:ext>
            </a:extLst>
          </p:cNvPr>
          <p:cNvSpPr/>
          <p:nvPr/>
        </p:nvSpPr>
        <p:spPr>
          <a:xfrm>
            <a:off x="9519600" y="1987300"/>
            <a:ext cx="1080000" cy="108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E7FC727-AB10-ED7D-AA18-EC96BB72C867}"/>
              </a:ext>
            </a:extLst>
          </p:cNvPr>
          <p:cNvSpPr/>
          <p:nvPr/>
        </p:nvSpPr>
        <p:spPr>
          <a:xfrm>
            <a:off x="5555250" y="1987300"/>
            <a:ext cx="1080000" cy="108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7D962C8-8241-68D5-67BF-90F6B66D0F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293" y="2194943"/>
            <a:ext cx="664713" cy="664713"/>
          </a:xfrm>
          <a:prstGeom prst="rect">
            <a:avLst/>
          </a:prstGeom>
        </p:spPr>
      </p:pic>
      <p:pic>
        <p:nvPicPr>
          <p:cNvPr id="15" name="Picture 1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38C0A07-6F52-5F21-7F0C-C92EC8C913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250" y="2194943"/>
            <a:ext cx="666000" cy="666000"/>
          </a:xfrm>
          <a:prstGeom prst="rect">
            <a:avLst/>
          </a:prstGeom>
        </p:spPr>
      </p:pic>
      <p:pic>
        <p:nvPicPr>
          <p:cNvPr id="17" name="Picture 1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94DB305-4C6D-434F-0040-99FB6CCB48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6600" y="2193656"/>
            <a:ext cx="666000" cy="6660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08575-E9BA-1583-F95B-5325AD8FF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B67A8-EE6E-4A5E-BBF8-392A446D18D4}" type="datetime1">
              <a:rPr lang="hr-HR" smtClean="0"/>
              <a:t>23.1.2026.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CBB699D-9420-0C0B-8552-BE0431343667}"/>
              </a:ext>
            </a:extLst>
          </p:cNvPr>
          <p:cNvSpPr/>
          <p:nvPr/>
        </p:nvSpPr>
        <p:spPr>
          <a:xfrm>
            <a:off x="2325581" y="0"/>
            <a:ext cx="1796092" cy="3683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Pregled zahtjeva</a:t>
            </a:r>
            <a:endParaRPr lang="en-US" sz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DE190CF-61D1-5A5A-7664-FAA175ACFCD4}"/>
              </a:ext>
            </a:extLst>
          </p:cNvPr>
          <p:cNvSpPr/>
          <p:nvPr/>
        </p:nvSpPr>
        <p:spPr>
          <a:xfrm>
            <a:off x="410666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Projekt i tim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28005CB-E2AB-5707-9A8F-004AE401DA30}"/>
              </a:ext>
            </a:extLst>
          </p:cNvPr>
          <p:cNvSpPr/>
          <p:nvPr/>
        </p:nvSpPr>
        <p:spPr>
          <a:xfrm>
            <a:off x="4240496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Korišteni alati i tehnologije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8E6C019-8BC1-F0F3-AB4C-874D2E8D5BF6}"/>
              </a:ext>
            </a:extLst>
          </p:cNvPr>
          <p:cNvSpPr/>
          <p:nvPr/>
        </p:nvSpPr>
        <p:spPr>
          <a:xfrm>
            <a:off x="6155411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Arhitektura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ABE14CD-B856-A23F-E813-0C2259FD3727}"/>
              </a:ext>
            </a:extLst>
          </p:cNvPr>
          <p:cNvSpPr/>
          <p:nvPr/>
        </p:nvSpPr>
        <p:spPr>
          <a:xfrm>
            <a:off x="9985242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Iskustva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F443BA3-DF26-1F55-3CE2-BD5A2A8B5CD9}"/>
              </a:ext>
            </a:extLst>
          </p:cNvPr>
          <p:cNvSpPr/>
          <p:nvPr/>
        </p:nvSpPr>
        <p:spPr>
          <a:xfrm>
            <a:off x="8070326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Organizacija rada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601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4CD48-486D-0A18-D765-9EEF51ABD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CF29B1E-D662-2243-0522-D2A7837EA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r-HR" sz="2800" noProof="0" dirty="0" err="1">
                <a:latin typeface="Georgia" panose="02040502050405020303" pitchFamily="18" charset="0"/>
              </a:rPr>
              <a:t>Nefunkcijski</a:t>
            </a:r>
            <a:r>
              <a:rPr lang="hr-HR" sz="2800" dirty="0">
                <a:latin typeface="Georgia" panose="02040502050405020303" pitchFamily="18" charset="0"/>
              </a:rPr>
              <a:t> zahtjevi</a:t>
            </a:r>
          </a:p>
        </p:txBody>
      </p:sp>
      <p:pic>
        <p:nvPicPr>
          <p:cNvPr id="8" name="Picture 4" descr="MANDphy - home - Matematička analiza i numeričke metode za ...">
            <a:extLst>
              <a:ext uri="{FF2B5EF4-FFF2-40B4-BE49-F238E27FC236}">
                <a16:creationId xmlns:a16="http://schemas.microsoft.com/office/drawing/2014/main" id="{DF48B28F-DE3E-428A-8531-24EDF3B96D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28170" r="60194" b="27559"/>
          <a:stretch>
            <a:fillRect/>
          </a:stretch>
        </p:blipFill>
        <p:spPr bwMode="auto">
          <a:xfrm>
            <a:off x="5833178" y="6492875"/>
            <a:ext cx="525644" cy="223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563D9B7-A6DE-7C76-F414-E0D3B63FF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2000" y="6356350"/>
            <a:ext cx="2743200" cy="365125"/>
          </a:xfrm>
        </p:spPr>
        <p:txBody>
          <a:bodyPr/>
          <a:lstStyle/>
          <a:p>
            <a:pPr lvl="1" algn="r"/>
            <a:fld id="{CFD40E17-5F22-405C-8E91-999647307EF5}" type="slidenum">
              <a:rPr lang="hr-HR" sz="900" smtClean="0">
                <a:latin typeface="Arial" panose="020B0604020202020204" pitchFamily="34" charset="0"/>
                <a:cs typeface="Arial" panose="020B0604020202020204" pitchFamily="34" charset="0"/>
              </a:rPr>
              <a:pPr lvl="1" algn="r"/>
              <a:t>6</a:t>
            </a:fld>
            <a:endParaRPr lang="hr-HR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DA4B458-EC11-D9F8-1876-EC9229D597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971" y="1919227"/>
            <a:ext cx="666001" cy="666001"/>
          </a:xfrm>
          <a:prstGeom prst="rect">
            <a:avLst/>
          </a:prstGeom>
        </p:spPr>
      </p:pic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F0E89C8-79D7-AFBB-03D9-D32BC4147E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971" y="3195075"/>
            <a:ext cx="666001" cy="666001"/>
          </a:xfrm>
          <a:prstGeom prst="rect">
            <a:avLst/>
          </a:prstGeom>
        </p:spPr>
      </p:pic>
      <p:pic>
        <p:nvPicPr>
          <p:cNvPr id="25" name="Picture 2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65ED2D0-17C6-9192-24E5-95B6A8148B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970" y="4368135"/>
            <a:ext cx="666001" cy="666001"/>
          </a:xfrm>
          <a:prstGeom prst="rect">
            <a:avLst/>
          </a:prstGeom>
        </p:spPr>
      </p:pic>
      <p:pic>
        <p:nvPicPr>
          <p:cNvPr id="26" name="Content Placeholder 11">
            <a:extLst>
              <a:ext uri="{FF2B5EF4-FFF2-40B4-BE49-F238E27FC236}">
                <a16:creationId xmlns:a16="http://schemas.microsoft.com/office/drawing/2014/main" id="{9EA9C2FF-2C00-B78E-958C-D80EC3F2F4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969" y="5399655"/>
            <a:ext cx="666001" cy="666001"/>
          </a:xfr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2A6867B-3C10-90C2-EDE9-0DFD10854DEF}"/>
              </a:ext>
            </a:extLst>
          </p:cNvPr>
          <p:cNvCxnSpPr>
            <a:cxnSpLocks/>
          </p:cNvCxnSpPr>
          <p:nvPr/>
        </p:nvCxnSpPr>
        <p:spPr>
          <a:xfrm>
            <a:off x="628650" y="2835077"/>
            <a:ext cx="109347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E1A8112-AFD9-B0B5-9A17-3D7CB22F6347}"/>
              </a:ext>
            </a:extLst>
          </p:cNvPr>
          <p:cNvCxnSpPr>
            <a:cxnSpLocks/>
          </p:cNvCxnSpPr>
          <p:nvPr/>
        </p:nvCxnSpPr>
        <p:spPr>
          <a:xfrm>
            <a:off x="628650" y="5181200"/>
            <a:ext cx="109347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5DA20B8-53C2-2592-37F5-8BB11575B716}"/>
              </a:ext>
            </a:extLst>
          </p:cNvPr>
          <p:cNvCxnSpPr>
            <a:cxnSpLocks/>
          </p:cNvCxnSpPr>
          <p:nvPr/>
        </p:nvCxnSpPr>
        <p:spPr>
          <a:xfrm>
            <a:off x="628650" y="4221073"/>
            <a:ext cx="109347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21E5555-B9B9-7BF7-1877-24E14B05D257}"/>
              </a:ext>
            </a:extLst>
          </p:cNvPr>
          <p:cNvSpPr/>
          <p:nvPr/>
        </p:nvSpPr>
        <p:spPr>
          <a:xfrm>
            <a:off x="6469811" y="1785044"/>
            <a:ext cx="5011943" cy="93436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lozinke moraju biti šifrirane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komunikacija između klijenta i poslužitelja koristi HTTPS protokol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sustav mora imati mehanizme autentifikacije i autorizacije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osobni podaci ne smiju se pohranjivati u otvorenom obliku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sustav mora biti otporan na XSS, CSFR i SQL </a:t>
            </a:r>
            <a:r>
              <a:rPr lang="hr-H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injection</a:t>
            </a:r>
            <a:r>
              <a:rPr lang="hr-H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napade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8329A4C-C7EC-3EE3-C4A8-18A0272BA3E4}"/>
              </a:ext>
            </a:extLst>
          </p:cNvPr>
          <p:cNvSpPr/>
          <p:nvPr/>
        </p:nvSpPr>
        <p:spPr>
          <a:xfrm>
            <a:off x="6469813" y="4336739"/>
            <a:ext cx="5011943" cy="72879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sustav mora biti dostupan 99% vremena</a:t>
            </a:r>
          </a:p>
          <a:p>
            <a:pPr marL="171450" marR="0" lvl="0" indent="-17145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r-HR" sz="11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sustav mora imati mehanizme za oporavak od greške</a:t>
            </a:r>
            <a:endParaRPr kumimoji="0" lang="hr-H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1AD9940-FAB7-5812-CA85-9C7279D94609}"/>
              </a:ext>
            </a:extLst>
          </p:cNvPr>
          <p:cNvSpPr/>
          <p:nvPr/>
        </p:nvSpPr>
        <p:spPr>
          <a:xfrm>
            <a:off x="6469814" y="5296866"/>
            <a:ext cx="5011943" cy="86066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aplikacija mora ispravno raditi na svim modernim preglednicima (Google Chrome, Mozilla Firefox, Microsoft </a:t>
            </a:r>
            <a:r>
              <a:rPr kumimoji="0" lang="hr-H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Edge</a:t>
            </a:r>
            <a:r>
              <a:rPr kumimoji="0" lang="hr-H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Safari, …)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66B9F1E-2F11-4AE6-7FDE-C3EB443904C6}"/>
              </a:ext>
            </a:extLst>
          </p:cNvPr>
          <p:cNvSpPr/>
          <p:nvPr/>
        </p:nvSpPr>
        <p:spPr>
          <a:xfrm>
            <a:off x="6469812" y="2950743"/>
            <a:ext cx="5011943" cy="115466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hr-HR" sz="1100" b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sučelje mora biti intuitivno i jednostavno za korištenje</a:t>
            </a:r>
          </a:p>
          <a:p>
            <a:pPr marL="171450" indent="-171450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hr-HR" sz="1100" b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aplikacija mora biti </a:t>
            </a:r>
            <a:r>
              <a:rPr lang="hr-HR" sz="110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responzivna</a:t>
            </a:r>
            <a:r>
              <a:rPr lang="hr-HR" sz="1100" b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(prilagođena mobitelima i tabletima)</a:t>
            </a:r>
          </a:p>
          <a:p>
            <a:pPr marL="171450" indent="-171450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hr-HR" sz="1100" b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dizajn mora biti dosljedan na svim stranicama</a:t>
            </a:r>
          </a:p>
          <a:p>
            <a:pPr marL="171450" indent="-171450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hr-HR" sz="1100" b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sustav mora odgovarati na korisničke zahtjeve u manje od 6 sekunde</a:t>
            </a:r>
          </a:p>
          <a:p>
            <a:pPr marL="171450" indent="-171450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hr-HR" sz="1100" b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sustav mora podržavati barem 200 istovremenih korisnika</a:t>
            </a:r>
          </a:p>
          <a:p>
            <a:pPr marL="171450" indent="-171450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hr-HR" sz="1100" b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vrijeme učitavanja početne stranice ne smije prelaziti 3 sekunde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ED6A12-5C41-913A-ABA7-5159FFA63E56}"/>
              </a:ext>
            </a:extLst>
          </p:cNvPr>
          <p:cNvSpPr txBox="1"/>
          <p:nvPr/>
        </p:nvSpPr>
        <p:spPr>
          <a:xfrm>
            <a:off x="1016479" y="199061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2800" b="1" dirty="0">
                <a:latin typeface="Arial" panose="020B0604020202020204" pitchFamily="34" charset="0"/>
                <a:cs typeface="Arial" panose="020B0604020202020204" pitchFamily="34" charset="0"/>
              </a:rPr>
              <a:t>Sigurnost</a:t>
            </a:r>
            <a:endParaRPr lang="hr-HR" sz="28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1B55CBE-6FE8-0AD8-41CC-1990CB19E3FF}"/>
              </a:ext>
            </a:extLst>
          </p:cNvPr>
          <p:cNvSpPr txBox="1"/>
          <p:nvPr/>
        </p:nvSpPr>
        <p:spPr>
          <a:xfrm>
            <a:off x="1007853" y="443952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2800" b="1" dirty="0">
                <a:latin typeface="Arial" panose="020B0604020202020204" pitchFamily="34" charset="0"/>
                <a:cs typeface="Arial" panose="020B0604020202020204" pitchFamily="34" charset="0"/>
              </a:rPr>
              <a:t>Pouzdanost</a:t>
            </a:r>
            <a:endParaRPr lang="hr-HR" sz="28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5ACC06-A30F-328F-A2DB-D86AAFF69DDB}"/>
              </a:ext>
            </a:extLst>
          </p:cNvPr>
          <p:cNvSpPr txBox="1"/>
          <p:nvPr/>
        </p:nvSpPr>
        <p:spPr>
          <a:xfrm>
            <a:off x="1007853" y="326646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2800" b="1" dirty="0">
                <a:latin typeface="Arial" panose="020B0604020202020204" pitchFamily="34" charset="0"/>
                <a:cs typeface="Arial" panose="020B0604020202020204" pitchFamily="34" charset="0"/>
              </a:rPr>
              <a:t>Upotrebljivost</a:t>
            </a:r>
            <a:endParaRPr lang="hr-HR" sz="28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0C473B-46E9-4698-575E-746C01CD327A}"/>
              </a:ext>
            </a:extLst>
          </p:cNvPr>
          <p:cNvSpPr txBox="1"/>
          <p:nvPr/>
        </p:nvSpPr>
        <p:spPr>
          <a:xfrm>
            <a:off x="1007853" y="5428737"/>
            <a:ext cx="28222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2800" b="1" dirty="0">
                <a:latin typeface="Arial" panose="020B0604020202020204" pitchFamily="34" charset="0"/>
                <a:cs typeface="Arial" panose="020B0604020202020204" pitchFamily="34" charset="0"/>
              </a:rPr>
              <a:t>Kompatibilnost</a:t>
            </a:r>
            <a:endParaRPr lang="hr-HR" sz="2800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20C9F1F-9FF4-6FD6-7F26-3146C69EF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D4542-593C-463A-A837-BEDFA906CB25}" type="datetime1">
              <a:rPr lang="hr-HR" smtClean="0"/>
              <a:t>23.1.2026.</a:t>
            </a:fld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228697C-6142-73EA-B9F9-C5BB49736613}"/>
              </a:ext>
            </a:extLst>
          </p:cNvPr>
          <p:cNvSpPr/>
          <p:nvPr/>
        </p:nvSpPr>
        <p:spPr>
          <a:xfrm>
            <a:off x="2325581" y="0"/>
            <a:ext cx="1796092" cy="368300"/>
          </a:xfrm>
          <a:prstGeom prst="round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Pregled zahtjeva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90D76A0-286D-78E0-341C-E70A987FBCFA}"/>
              </a:ext>
            </a:extLst>
          </p:cNvPr>
          <p:cNvSpPr/>
          <p:nvPr/>
        </p:nvSpPr>
        <p:spPr>
          <a:xfrm>
            <a:off x="410666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Projekt i tim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12038BA-1804-A66D-75A5-56D8A000BD3D}"/>
              </a:ext>
            </a:extLst>
          </p:cNvPr>
          <p:cNvSpPr/>
          <p:nvPr/>
        </p:nvSpPr>
        <p:spPr>
          <a:xfrm>
            <a:off x="4240496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Korišteni alati i tehnologije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61E8E8A-A306-1FB0-2C6D-2B6B09F891C1}"/>
              </a:ext>
            </a:extLst>
          </p:cNvPr>
          <p:cNvSpPr/>
          <p:nvPr/>
        </p:nvSpPr>
        <p:spPr>
          <a:xfrm>
            <a:off x="6155411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Arhitektura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3C20F58-96F8-AC0F-E831-E7391F0439CC}"/>
              </a:ext>
            </a:extLst>
          </p:cNvPr>
          <p:cNvSpPr/>
          <p:nvPr/>
        </p:nvSpPr>
        <p:spPr>
          <a:xfrm>
            <a:off x="9985242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Iskustva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966045D-2A49-00F4-FAB2-3B7B03CE55E6}"/>
              </a:ext>
            </a:extLst>
          </p:cNvPr>
          <p:cNvSpPr/>
          <p:nvPr/>
        </p:nvSpPr>
        <p:spPr>
          <a:xfrm>
            <a:off x="8070326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Organizacija rada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6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EC01B-B9CE-7F0B-DE69-C17DB7459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6874CB0-CD17-58EC-B74A-920AE8BC3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r-HR" sz="2800" dirty="0">
                <a:latin typeface="Georgia" panose="02040502050405020303" pitchFamily="18" charset="0"/>
              </a:rPr>
              <a:t>Korišteni alati i tehnologije</a:t>
            </a:r>
            <a:endParaRPr lang="en-US" sz="2800" dirty="0">
              <a:latin typeface="Georgia" panose="02040502050405020303" pitchFamily="18" charset="0"/>
            </a:endParaRPr>
          </a:p>
        </p:txBody>
      </p:sp>
      <p:pic>
        <p:nvPicPr>
          <p:cNvPr id="8" name="Picture 4" descr="MANDphy - home - Matematička analiza i numeričke metode za ...">
            <a:extLst>
              <a:ext uri="{FF2B5EF4-FFF2-40B4-BE49-F238E27FC236}">
                <a16:creationId xmlns:a16="http://schemas.microsoft.com/office/drawing/2014/main" id="{722E3CE0-02C9-459F-B594-26AC090698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28170" r="60194" b="27559"/>
          <a:stretch>
            <a:fillRect/>
          </a:stretch>
        </p:blipFill>
        <p:spPr bwMode="auto">
          <a:xfrm>
            <a:off x="5833178" y="6492875"/>
            <a:ext cx="525644" cy="223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11F6A70-0635-66A0-71A2-DE0E63518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2000" y="6356350"/>
            <a:ext cx="2743200" cy="365125"/>
          </a:xfrm>
        </p:spPr>
        <p:txBody>
          <a:bodyPr/>
          <a:lstStyle/>
          <a:p>
            <a:pPr lvl="1" algn="r"/>
            <a:fld id="{CFD40E17-5F22-405C-8E91-999647307EF5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lvl="1" algn="r"/>
              <a:t>7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9E6555D-CD9A-49CF-ECE2-FB4F46BB4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E5FB-3D1B-424A-A119-878C655A8D2F}" type="datetime1">
              <a:rPr lang="hr-HR" smtClean="0"/>
              <a:t>24.1.2026.</a:t>
            </a:fld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8506D38-6F78-A63D-0F2E-9A4CE45B6AE0}"/>
              </a:ext>
            </a:extLst>
          </p:cNvPr>
          <p:cNvSpPr/>
          <p:nvPr/>
        </p:nvSpPr>
        <p:spPr>
          <a:xfrm>
            <a:off x="2325581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Pregled zahtjeva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DB61B6F-B764-F2AC-06F2-A76BB87AE0A2}"/>
              </a:ext>
            </a:extLst>
          </p:cNvPr>
          <p:cNvSpPr/>
          <p:nvPr/>
        </p:nvSpPr>
        <p:spPr>
          <a:xfrm>
            <a:off x="410666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Projekt i tim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C214605-6C94-A5F4-B63C-A97D2674CEAD}"/>
              </a:ext>
            </a:extLst>
          </p:cNvPr>
          <p:cNvSpPr/>
          <p:nvPr/>
        </p:nvSpPr>
        <p:spPr>
          <a:xfrm>
            <a:off x="4240496" y="0"/>
            <a:ext cx="1796092" cy="3683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Korišteni alati i tehnologije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52093A6-F71B-1E07-E108-D43219F3BAF3}"/>
              </a:ext>
            </a:extLst>
          </p:cNvPr>
          <p:cNvSpPr/>
          <p:nvPr/>
        </p:nvSpPr>
        <p:spPr>
          <a:xfrm>
            <a:off x="6155411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Arhitektura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3C78470-0DF3-794C-7559-AA2986967C58}"/>
              </a:ext>
            </a:extLst>
          </p:cNvPr>
          <p:cNvSpPr/>
          <p:nvPr/>
        </p:nvSpPr>
        <p:spPr>
          <a:xfrm>
            <a:off x="9985242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Iskustva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D855D9D-A9C1-C707-123F-DB4C6E2958B0}"/>
              </a:ext>
            </a:extLst>
          </p:cNvPr>
          <p:cNvSpPr/>
          <p:nvPr/>
        </p:nvSpPr>
        <p:spPr>
          <a:xfrm>
            <a:off x="8070326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Organizacija rada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07A473-61A3-C5EE-B428-B2E03533FEF8}"/>
              </a:ext>
            </a:extLst>
          </p:cNvPr>
          <p:cNvSpPr txBox="1"/>
          <p:nvPr/>
        </p:nvSpPr>
        <p:spPr>
          <a:xfrm>
            <a:off x="838200" y="1582589"/>
            <a:ext cx="6362700" cy="345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1400" b="1" dirty="0"/>
              <a:t>Klijent-poslužitelj arhitektura:</a:t>
            </a:r>
          </a:p>
          <a:p>
            <a:pPr marL="171450" lvl="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hr-HR" sz="1400" dirty="0">
                <a:solidFill>
                  <a:prstClr val="black"/>
                </a:solidFill>
              </a:rPr>
              <a:t>Odvojeni </a:t>
            </a:r>
            <a:r>
              <a:rPr lang="hr-HR" sz="1400" dirty="0" err="1">
                <a:solidFill>
                  <a:prstClr val="black"/>
                </a:solidFill>
              </a:rPr>
              <a:t>frontend</a:t>
            </a:r>
            <a:r>
              <a:rPr lang="hr-HR" sz="1400" dirty="0">
                <a:solidFill>
                  <a:prstClr val="black"/>
                </a:solidFill>
              </a:rPr>
              <a:t> (</a:t>
            </a:r>
            <a:r>
              <a:rPr lang="hr-HR" sz="1400" dirty="0" err="1">
                <a:solidFill>
                  <a:prstClr val="black"/>
                </a:solidFill>
              </a:rPr>
              <a:t>React</a:t>
            </a:r>
            <a:r>
              <a:rPr lang="hr-HR" sz="1400" dirty="0">
                <a:solidFill>
                  <a:prstClr val="black"/>
                </a:solidFill>
              </a:rPr>
              <a:t>) i </a:t>
            </a:r>
            <a:r>
              <a:rPr lang="hr-HR" sz="1400" dirty="0" err="1">
                <a:solidFill>
                  <a:prstClr val="black"/>
                </a:solidFill>
              </a:rPr>
              <a:t>backend</a:t>
            </a:r>
            <a:r>
              <a:rPr lang="hr-HR" sz="1400" dirty="0">
                <a:solidFill>
                  <a:prstClr val="black"/>
                </a:solidFill>
              </a:rPr>
              <a:t> (</a:t>
            </a:r>
            <a:r>
              <a:rPr lang="hr-HR" sz="1400" dirty="0" err="1">
                <a:solidFill>
                  <a:prstClr val="black"/>
                </a:solidFill>
              </a:rPr>
              <a:t>Django</a:t>
            </a:r>
            <a:r>
              <a:rPr lang="hr-HR" sz="1400" dirty="0">
                <a:solidFill>
                  <a:prstClr val="black"/>
                </a:solidFill>
              </a:rPr>
              <a:t>)</a:t>
            </a:r>
          </a:p>
          <a:p>
            <a:pPr marL="171450" lvl="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hr-HR" sz="1400" dirty="0">
                <a:solidFill>
                  <a:prstClr val="black"/>
                </a:solidFill>
              </a:rPr>
              <a:t>Komunikacija putem REST API-ja</a:t>
            </a:r>
          </a:p>
          <a:p>
            <a:r>
              <a:rPr lang="hr-HR" sz="1400" b="1" dirty="0"/>
              <a:t>Podsustavi</a:t>
            </a:r>
            <a:r>
              <a:rPr lang="hr-HR" sz="1600" b="1" dirty="0"/>
              <a:t>:</a:t>
            </a:r>
            <a:endParaRPr lang="hr-HR" sz="1600" dirty="0"/>
          </a:p>
          <a:p>
            <a:pPr marL="171450" lvl="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hr-HR" sz="1400" dirty="0" err="1">
                <a:solidFill>
                  <a:prstClr val="black"/>
                </a:solidFill>
              </a:rPr>
              <a:t>Frontend</a:t>
            </a:r>
            <a:r>
              <a:rPr lang="hr-HR" sz="1400" dirty="0">
                <a:solidFill>
                  <a:prstClr val="black"/>
                </a:solidFill>
              </a:rPr>
              <a:t> (</a:t>
            </a:r>
            <a:r>
              <a:rPr lang="hr-HR" sz="1400" dirty="0" err="1">
                <a:solidFill>
                  <a:prstClr val="black"/>
                </a:solidFill>
              </a:rPr>
              <a:t>React</a:t>
            </a:r>
            <a:r>
              <a:rPr lang="hr-HR" sz="1400" dirty="0">
                <a:solidFill>
                  <a:prstClr val="black"/>
                </a:solidFill>
              </a:rPr>
              <a:t>): Korisničko sučelje, interakcija s aplikacijom</a:t>
            </a:r>
          </a:p>
          <a:p>
            <a:pPr marL="171450" lvl="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hr-HR" sz="1400" dirty="0" err="1">
                <a:solidFill>
                  <a:prstClr val="black"/>
                </a:solidFill>
              </a:rPr>
              <a:t>Backend</a:t>
            </a:r>
            <a:r>
              <a:rPr lang="hr-HR" sz="1400" dirty="0">
                <a:solidFill>
                  <a:prstClr val="black"/>
                </a:solidFill>
              </a:rPr>
              <a:t> (</a:t>
            </a:r>
            <a:r>
              <a:rPr lang="hr-HR" sz="1400" dirty="0" err="1">
                <a:solidFill>
                  <a:prstClr val="black"/>
                </a:solidFill>
              </a:rPr>
              <a:t>Django</a:t>
            </a:r>
            <a:r>
              <a:rPr lang="hr-HR" sz="1400" dirty="0">
                <a:solidFill>
                  <a:prstClr val="black"/>
                </a:solidFill>
              </a:rPr>
              <a:t>): Obrada zahtjeva, poslovna logika, sigurnost</a:t>
            </a:r>
          </a:p>
          <a:p>
            <a:pPr marL="171450" lvl="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hr-HR" sz="1400" dirty="0">
                <a:solidFill>
                  <a:prstClr val="black"/>
                </a:solidFill>
              </a:rPr>
              <a:t>Baza podataka (</a:t>
            </a:r>
            <a:r>
              <a:rPr lang="hr-HR" sz="1400" dirty="0" err="1">
                <a:solidFill>
                  <a:prstClr val="black"/>
                </a:solidFill>
              </a:rPr>
              <a:t>PostgreSQL</a:t>
            </a:r>
            <a:r>
              <a:rPr lang="hr-HR" sz="1400" dirty="0">
                <a:solidFill>
                  <a:prstClr val="black"/>
                </a:solidFill>
              </a:rPr>
              <a:t>): Pohrana podataka, integritet</a:t>
            </a:r>
          </a:p>
          <a:p>
            <a:pPr marL="171450" lvl="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hr-HR" sz="1400" dirty="0">
                <a:solidFill>
                  <a:prstClr val="black"/>
                </a:solidFill>
              </a:rPr>
              <a:t>Google </a:t>
            </a:r>
            <a:r>
              <a:rPr lang="hr-HR" sz="1400" dirty="0" err="1">
                <a:solidFill>
                  <a:prstClr val="black"/>
                </a:solidFill>
              </a:rPr>
              <a:t>Calendar</a:t>
            </a:r>
            <a:r>
              <a:rPr lang="hr-HR" sz="1400" dirty="0">
                <a:solidFill>
                  <a:prstClr val="black"/>
                </a:solidFill>
              </a:rPr>
              <a:t> API: </a:t>
            </a:r>
            <a:r>
              <a:rPr lang="hr-HR" sz="1400" dirty="0" err="1">
                <a:solidFill>
                  <a:prstClr val="black"/>
                </a:solidFill>
              </a:rPr>
              <a:t>Schedulanje</a:t>
            </a:r>
            <a:r>
              <a:rPr lang="hr-HR" sz="1400" dirty="0">
                <a:solidFill>
                  <a:prstClr val="black"/>
                </a:solidFill>
              </a:rPr>
              <a:t> sastanaka i Google </a:t>
            </a:r>
            <a:r>
              <a:rPr lang="hr-HR" sz="1400" dirty="0" err="1">
                <a:solidFill>
                  <a:prstClr val="black"/>
                </a:solidFill>
              </a:rPr>
              <a:t>Meetova</a:t>
            </a:r>
            <a:endParaRPr lang="hr-HR" sz="1400" dirty="0">
              <a:solidFill>
                <a:prstClr val="black"/>
              </a:solidFill>
            </a:endParaRPr>
          </a:p>
          <a:p>
            <a:pPr marL="171450" lvl="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hr-HR" sz="1400" dirty="0" err="1">
                <a:solidFill>
                  <a:prstClr val="black"/>
                </a:solidFill>
              </a:rPr>
              <a:t>OAuth</a:t>
            </a:r>
            <a:r>
              <a:rPr lang="hr-HR" sz="1400" dirty="0">
                <a:solidFill>
                  <a:prstClr val="black"/>
                </a:solidFill>
              </a:rPr>
              <a:t> 2.0: Sigurna prijava putem vanjskih servisa</a:t>
            </a:r>
          </a:p>
          <a:p>
            <a:pPr marL="171450" lvl="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hr-HR" sz="1400" dirty="0">
                <a:solidFill>
                  <a:prstClr val="black"/>
                </a:solidFill>
              </a:rPr>
              <a:t>Mail SMTP: Mail poslužitelj</a:t>
            </a:r>
          </a:p>
          <a:p>
            <a:pPr marL="171450" lvl="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hr-HR" sz="1400" dirty="0" err="1">
                <a:solidFill>
                  <a:prstClr val="black"/>
                </a:solidFill>
              </a:rPr>
              <a:t>SwaggerUI</a:t>
            </a:r>
            <a:r>
              <a:rPr lang="hr-HR" sz="1400" dirty="0">
                <a:solidFill>
                  <a:prstClr val="black"/>
                </a:solidFill>
              </a:rPr>
              <a:t>: Testiranje i dokumentacija API-ja</a:t>
            </a:r>
            <a:endParaRPr lang="hr-HR" sz="1600" noProof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7E2496-C17B-2ABA-36DF-EACA3D4B780A}"/>
              </a:ext>
            </a:extLst>
          </p:cNvPr>
          <p:cNvSpPr txBox="1"/>
          <p:nvPr/>
        </p:nvSpPr>
        <p:spPr>
          <a:xfrm>
            <a:off x="6396038" y="1573251"/>
            <a:ext cx="5385296" cy="2652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1400" b="1" dirty="0"/>
              <a:t>Hosting platforme:</a:t>
            </a:r>
            <a:endParaRPr lang="hr-HR" sz="1400" dirty="0"/>
          </a:p>
          <a:p>
            <a:pPr marL="171450" lvl="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hr-HR" sz="1400" dirty="0" err="1">
                <a:solidFill>
                  <a:prstClr val="black"/>
                </a:solidFill>
              </a:rPr>
              <a:t>Render</a:t>
            </a:r>
            <a:r>
              <a:rPr lang="hr-HR" sz="1400" dirty="0">
                <a:solidFill>
                  <a:prstClr val="black"/>
                </a:solidFill>
              </a:rPr>
              <a:t>: </a:t>
            </a:r>
            <a:r>
              <a:rPr lang="hr-HR" sz="1400" dirty="0" err="1">
                <a:solidFill>
                  <a:prstClr val="black"/>
                </a:solidFill>
              </a:rPr>
              <a:t>Backend</a:t>
            </a:r>
            <a:r>
              <a:rPr lang="hr-HR" sz="1400" dirty="0">
                <a:solidFill>
                  <a:prstClr val="black"/>
                </a:solidFill>
              </a:rPr>
              <a:t> hosting s automatskim skaliranjem</a:t>
            </a:r>
          </a:p>
          <a:p>
            <a:pPr marL="171450" lvl="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hr-HR" sz="1400" dirty="0" err="1">
                <a:solidFill>
                  <a:prstClr val="black"/>
                </a:solidFill>
              </a:rPr>
              <a:t>Vercel</a:t>
            </a:r>
            <a:r>
              <a:rPr lang="hr-HR" sz="1400" dirty="0">
                <a:solidFill>
                  <a:prstClr val="black"/>
                </a:solidFill>
              </a:rPr>
              <a:t>: </a:t>
            </a:r>
            <a:r>
              <a:rPr lang="hr-HR" sz="1400" dirty="0" err="1">
                <a:solidFill>
                  <a:prstClr val="black"/>
                </a:solidFill>
              </a:rPr>
              <a:t>Frontend</a:t>
            </a:r>
            <a:r>
              <a:rPr lang="hr-HR" sz="1400" dirty="0">
                <a:solidFill>
                  <a:prstClr val="black"/>
                </a:solidFill>
              </a:rPr>
              <a:t> hosting za optimalne performanse</a:t>
            </a:r>
          </a:p>
          <a:p>
            <a:r>
              <a:rPr lang="hr-HR" sz="1400" b="1" dirty="0"/>
              <a:t>Mrežni protokol</a:t>
            </a:r>
            <a:endParaRPr lang="hr-HR" sz="1400" dirty="0"/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HTTP komunikacija između </a:t>
            </a:r>
            <a:r>
              <a:rPr kumimoji="0" lang="hr-H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frontend</a:t>
            </a:r>
            <a:r>
              <a:rPr kumimoji="0" lang="hr-H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 </a:t>
            </a:r>
            <a:r>
              <a:rPr kumimoji="0" lang="hr-H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backend</a:t>
            </a:r>
            <a:r>
              <a:rPr kumimoji="0" lang="hr-H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komponenti</a:t>
            </a:r>
          </a:p>
          <a:p>
            <a:endParaRPr lang="hr-HR" sz="1400" b="1" dirty="0"/>
          </a:p>
          <a:p>
            <a:r>
              <a:rPr lang="hr-HR" sz="1400" b="1" dirty="0"/>
              <a:t>Globalni upravljački tok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sv-S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Korisnik -&gt; Frontend (zahtjev) -&gt; Backend (obrada) -&gt; Baza podataka -&gt; Frontend (prikaz odgovora)</a:t>
            </a:r>
          </a:p>
          <a:p>
            <a:endParaRPr lang="hr-HR" sz="1400" b="1" dirty="0"/>
          </a:p>
        </p:txBody>
      </p:sp>
    </p:spTree>
    <p:extLst>
      <p:ext uri="{BB962C8B-B14F-4D97-AF65-F5344CB8AC3E}">
        <p14:creationId xmlns:p14="http://schemas.microsoft.com/office/powerpoint/2010/main" val="1480964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BE8EC-2002-A923-1A99-D93017732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6FDD0EA-4B70-EBA2-E655-0B45D4322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r-HR" sz="2800" dirty="0">
                <a:latin typeface="Georgia" panose="02040502050405020303" pitchFamily="18" charset="0"/>
              </a:rPr>
              <a:t>Dijagram arhitekture</a:t>
            </a:r>
            <a:endParaRPr lang="en-US" sz="2800" dirty="0">
              <a:latin typeface="Georgia" panose="02040502050405020303" pitchFamily="18" charset="0"/>
            </a:endParaRPr>
          </a:p>
        </p:txBody>
      </p:sp>
      <p:pic>
        <p:nvPicPr>
          <p:cNvPr id="8" name="Picture 4" descr="MANDphy - home - Matematička analiza i numeričke metode za ...">
            <a:extLst>
              <a:ext uri="{FF2B5EF4-FFF2-40B4-BE49-F238E27FC236}">
                <a16:creationId xmlns:a16="http://schemas.microsoft.com/office/drawing/2014/main" id="{64B666F8-0618-1275-6978-AD66418EA9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28170" r="60194" b="27559"/>
          <a:stretch>
            <a:fillRect/>
          </a:stretch>
        </p:blipFill>
        <p:spPr bwMode="auto">
          <a:xfrm>
            <a:off x="5833178" y="6492875"/>
            <a:ext cx="525644" cy="223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2F9DAD0-5F78-16B2-BF7C-4F6E6359C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2000" y="6356350"/>
            <a:ext cx="2743200" cy="365125"/>
          </a:xfrm>
        </p:spPr>
        <p:txBody>
          <a:bodyPr/>
          <a:lstStyle/>
          <a:p>
            <a:pPr lvl="1" algn="r"/>
            <a:fld id="{CFD40E17-5F22-405C-8E91-999647307EF5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lvl="1" algn="r"/>
              <a:t>8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858311A-CA2C-AA31-92FC-A733A7C1B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E5FB-3D1B-424A-A119-878C655A8D2F}" type="datetime1">
              <a:rPr lang="hr-HR" smtClean="0"/>
              <a:t>23.1.2026.</a:t>
            </a:fld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0E46EC1-338F-BC2E-2B57-1F76B4EF3018}"/>
              </a:ext>
            </a:extLst>
          </p:cNvPr>
          <p:cNvSpPr/>
          <p:nvPr/>
        </p:nvSpPr>
        <p:spPr>
          <a:xfrm>
            <a:off x="2325581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Pregled zahtjeva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FE409E9-6530-1B22-5984-2F60E970EACC}"/>
              </a:ext>
            </a:extLst>
          </p:cNvPr>
          <p:cNvSpPr/>
          <p:nvPr/>
        </p:nvSpPr>
        <p:spPr>
          <a:xfrm>
            <a:off x="410666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Projekt i tim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C9AA87D-9EF8-C23C-2CBD-F992C9A3C714}"/>
              </a:ext>
            </a:extLst>
          </p:cNvPr>
          <p:cNvSpPr/>
          <p:nvPr/>
        </p:nvSpPr>
        <p:spPr>
          <a:xfrm>
            <a:off x="4240496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Korišteni alati i tehnologije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4F87A6D-700D-D9A1-4630-6B56D0D53EC5}"/>
              </a:ext>
            </a:extLst>
          </p:cNvPr>
          <p:cNvSpPr/>
          <p:nvPr/>
        </p:nvSpPr>
        <p:spPr>
          <a:xfrm>
            <a:off x="6155411" y="0"/>
            <a:ext cx="1796092" cy="3683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Arhitektura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A854C1E-5A84-5486-E7C1-0D7AAA0217BF}"/>
              </a:ext>
            </a:extLst>
          </p:cNvPr>
          <p:cNvSpPr/>
          <p:nvPr/>
        </p:nvSpPr>
        <p:spPr>
          <a:xfrm>
            <a:off x="9985242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Iskustva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2A4E41D-1C5E-ECBF-1FF9-C2C327A62543}"/>
              </a:ext>
            </a:extLst>
          </p:cNvPr>
          <p:cNvSpPr/>
          <p:nvPr/>
        </p:nvSpPr>
        <p:spPr>
          <a:xfrm>
            <a:off x="8070326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Organizacija rada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Slika 4">
            <a:extLst>
              <a:ext uri="{FF2B5EF4-FFF2-40B4-BE49-F238E27FC236}">
                <a16:creationId xmlns:a16="http://schemas.microsoft.com/office/drawing/2014/main" id="{F4851163-754E-7AC5-759D-5EB7D9EC0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43" y="1542921"/>
            <a:ext cx="7880513" cy="21063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Slika 5">
            <a:extLst>
              <a:ext uri="{FF2B5EF4-FFF2-40B4-BE49-F238E27FC236}">
                <a16:creationId xmlns:a16="http://schemas.microsoft.com/office/drawing/2014/main" id="{6D5D67CF-94B2-6E4D-5F05-24A3EB2F5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2590" y="3831128"/>
            <a:ext cx="5872464" cy="24056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86265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E6FDB-178A-11CC-03B8-C8FE6972D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2577F7F-8ED7-DEB0-0304-163B8CD9C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r-HR" sz="2800" dirty="0">
                <a:latin typeface="Georgia" panose="02040502050405020303" pitchFamily="18" charset="0"/>
              </a:rPr>
              <a:t>Arhitektura sustava</a:t>
            </a:r>
            <a:endParaRPr lang="en-US" sz="2800" dirty="0">
              <a:latin typeface="Georgia" panose="02040502050405020303" pitchFamily="18" charset="0"/>
            </a:endParaRPr>
          </a:p>
        </p:txBody>
      </p:sp>
      <p:pic>
        <p:nvPicPr>
          <p:cNvPr id="8" name="Picture 4" descr="MANDphy - home - Matematička analiza i numeričke metode za ...">
            <a:extLst>
              <a:ext uri="{FF2B5EF4-FFF2-40B4-BE49-F238E27FC236}">
                <a16:creationId xmlns:a16="http://schemas.microsoft.com/office/drawing/2014/main" id="{FEF9212B-1A7E-1F7D-8747-36EBAD3178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28170" r="60194" b="27559"/>
          <a:stretch>
            <a:fillRect/>
          </a:stretch>
        </p:blipFill>
        <p:spPr bwMode="auto">
          <a:xfrm>
            <a:off x="5833178" y="6492875"/>
            <a:ext cx="525644" cy="223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E0E68A-74A6-E597-EED7-1DB35818A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2000" y="6356350"/>
            <a:ext cx="2743200" cy="365125"/>
          </a:xfrm>
        </p:spPr>
        <p:txBody>
          <a:bodyPr/>
          <a:lstStyle/>
          <a:p>
            <a:pPr lvl="1" algn="r"/>
            <a:fld id="{CFD40E17-5F22-405C-8E91-999647307EF5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lvl="1" algn="r"/>
              <a:t>9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B0DF84C-C064-ACCB-5E9B-0300E9F3B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E5FB-3D1B-424A-A119-878C655A8D2F}" type="datetime1">
              <a:rPr lang="hr-HR" smtClean="0"/>
              <a:t>24.1.2026.</a:t>
            </a:fld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AE86D73-CE10-711D-7FBA-A7742DE67359}"/>
              </a:ext>
            </a:extLst>
          </p:cNvPr>
          <p:cNvSpPr/>
          <p:nvPr/>
        </p:nvSpPr>
        <p:spPr>
          <a:xfrm>
            <a:off x="2325581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Pregled zahtjeva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479FEAF-FA82-0222-CC0B-20064748DDD7}"/>
              </a:ext>
            </a:extLst>
          </p:cNvPr>
          <p:cNvSpPr/>
          <p:nvPr/>
        </p:nvSpPr>
        <p:spPr>
          <a:xfrm>
            <a:off x="410666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Projekt i tim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9402AC0-F1B1-B2C0-8CD2-534B8BD921D8}"/>
              </a:ext>
            </a:extLst>
          </p:cNvPr>
          <p:cNvSpPr/>
          <p:nvPr/>
        </p:nvSpPr>
        <p:spPr>
          <a:xfrm>
            <a:off x="4240496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Korišteni alati i tehnologije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02FBBC3-8BED-D1C3-DAAF-346AC5E0206C}"/>
              </a:ext>
            </a:extLst>
          </p:cNvPr>
          <p:cNvSpPr/>
          <p:nvPr/>
        </p:nvSpPr>
        <p:spPr>
          <a:xfrm>
            <a:off x="6155411" y="0"/>
            <a:ext cx="1796092" cy="3683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Arhitektura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3EBD365-9C36-83CF-691E-55E21A20197A}"/>
              </a:ext>
            </a:extLst>
          </p:cNvPr>
          <p:cNvSpPr/>
          <p:nvPr/>
        </p:nvSpPr>
        <p:spPr>
          <a:xfrm>
            <a:off x="9985242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Iskustva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3A12339-D949-73A7-B9C3-D3C75EF49626}"/>
              </a:ext>
            </a:extLst>
          </p:cNvPr>
          <p:cNvSpPr/>
          <p:nvPr/>
        </p:nvSpPr>
        <p:spPr>
          <a:xfrm>
            <a:off x="8070326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Organizacija rada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BA349D-753B-F2FC-CE71-0BF9CF200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194" y="1466658"/>
            <a:ext cx="4994979" cy="38929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r-HR" sz="1200" b="1" dirty="0"/>
              <a:t>Programski jezici:</a:t>
            </a:r>
          </a:p>
          <a:p>
            <a:r>
              <a:rPr lang="hr-HR" sz="1100" dirty="0"/>
              <a:t>Python 3.11/3.12 - Čitljiv, jednostavan i skalabilan za </a:t>
            </a:r>
            <a:r>
              <a:rPr lang="hr-HR" sz="1100" dirty="0" err="1"/>
              <a:t>backend</a:t>
            </a:r>
            <a:endParaRPr lang="hr-HR" sz="1100" dirty="0"/>
          </a:p>
          <a:p>
            <a:r>
              <a:rPr lang="hr-HR" sz="1100" dirty="0" err="1"/>
              <a:t>TypeScript</a:t>
            </a:r>
            <a:r>
              <a:rPr lang="hr-HR" sz="1100" dirty="0"/>
              <a:t> 5 - Statički tipiziran, siguran i produktivan za </a:t>
            </a:r>
            <a:r>
              <a:rPr lang="hr-HR" sz="1100" dirty="0" err="1"/>
              <a:t>frontend</a:t>
            </a:r>
            <a:endParaRPr lang="hr-HR" sz="1100" dirty="0"/>
          </a:p>
          <a:p>
            <a:pPr marL="0" indent="0">
              <a:buNone/>
            </a:pPr>
            <a:r>
              <a:rPr lang="hr-HR" sz="1200" b="1" dirty="0"/>
              <a:t>Radni okviri i biblioteke:</a:t>
            </a:r>
          </a:p>
          <a:p>
            <a:r>
              <a:rPr lang="hr-HR" sz="1100" dirty="0" err="1"/>
              <a:t>React</a:t>
            </a:r>
            <a:r>
              <a:rPr lang="hr-HR" sz="1100" dirty="0"/>
              <a:t> 19 (Next.js 15.1.5) - Fleksibilan </a:t>
            </a:r>
            <a:r>
              <a:rPr lang="hr-HR" sz="1100" dirty="0" err="1"/>
              <a:t>frontend</a:t>
            </a:r>
            <a:r>
              <a:rPr lang="hr-HR" sz="1100" dirty="0"/>
              <a:t> okvir s podrškom za SSR</a:t>
            </a:r>
          </a:p>
          <a:p>
            <a:r>
              <a:rPr lang="hr-HR" sz="1100" dirty="0" err="1"/>
              <a:t>Django</a:t>
            </a:r>
            <a:r>
              <a:rPr lang="hr-HR" sz="1100" dirty="0"/>
              <a:t> 5.2.7 - Siguran i skalabilan </a:t>
            </a:r>
            <a:r>
              <a:rPr lang="hr-HR" sz="1100" dirty="0" err="1"/>
              <a:t>backend</a:t>
            </a:r>
            <a:r>
              <a:rPr lang="hr-HR" sz="1100" dirty="0"/>
              <a:t> okvir</a:t>
            </a:r>
          </a:p>
          <a:p>
            <a:r>
              <a:rPr lang="hr-HR" sz="1100" dirty="0" err="1"/>
              <a:t>Django</a:t>
            </a:r>
            <a:r>
              <a:rPr lang="hr-HR" sz="1100" dirty="0"/>
              <a:t> REST Framework - Izrada REST API-ja</a:t>
            </a:r>
          </a:p>
          <a:p>
            <a:r>
              <a:rPr lang="hr-HR" sz="1100" dirty="0"/>
              <a:t>NextAuth.js - Autentifikacija (Google </a:t>
            </a:r>
            <a:r>
              <a:rPr lang="hr-HR" sz="1100" dirty="0" err="1"/>
              <a:t>OAuth</a:t>
            </a:r>
            <a:r>
              <a:rPr lang="hr-HR" sz="1100" dirty="0"/>
              <a:t> 2.0)</a:t>
            </a:r>
          </a:p>
          <a:p>
            <a:r>
              <a:rPr lang="hr-HR" sz="1100" dirty="0" err="1"/>
              <a:t>Tailwind</a:t>
            </a:r>
            <a:r>
              <a:rPr lang="hr-HR" sz="1100" dirty="0"/>
              <a:t> CSS - </a:t>
            </a:r>
            <a:r>
              <a:rPr lang="hr-HR" sz="1100" dirty="0" err="1"/>
              <a:t>Utility-first</a:t>
            </a:r>
            <a:r>
              <a:rPr lang="hr-HR" sz="1100" dirty="0"/>
              <a:t> </a:t>
            </a:r>
            <a:r>
              <a:rPr lang="hr-HR" sz="1100" dirty="0" err="1"/>
              <a:t>styling</a:t>
            </a:r>
            <a:endParaRPr lang="hr-HR" sz="1100" dirty="0"/>
          </a:p>
          <a:p>
            <a:r>
              <a:rPr lang="hr-HR" sz="1100" dirty="0" err="1"/>
              <a:t>Radix</a:t>
            </a:r>
            <a:r>
              <a:rPr lang="hr-HR" sz="1100" dirty="0"/>
              <a:t> UI - Pristupačne UI komponente</a:t>
            </a:r>
          </a:p>
          <a:p>
            <a:pPr marL="0" lvl="0" indent="0">
              <a:buNone/>
              <a:defRPr/>
            </a:pPr>
            <a:r>
              <a:rPr lang="hr-HR" sz="1200" b="1" dirty="0">
                <a:solidFill>
                  <a:prstClr val="black"/>
                </a:solidFill>
              </a:rPr>
              <a:t>Baza</a:t>
            </a:r>
            <a:r>
              <a:rPr lang="hr-HR" sz="1200" dirty="0">
                <a:solidFill>
                  <a:prstClr val="black"/>
                </a:solidFill>
              </a:rPr>
              <a:t> </a:t>
            </a:r>
            <a:r>
              <a:rPr lang="hr-HR" sz="1200" b="1" dirty="0">
                <a:solidFill>
                  <a:prstClr val="black"/>
                </a:solidFill>
              </a:rPr>
              <a:t>podataka</a:t>
            </a:r>
            <a:r>
              <a:rPr lang="hr-HR" sz="1200" dirty="0">
                <a:solidFill>
                  <a:prstClr val="black"/>
                </a:solidFill>
              </a:rPr>
              <a:t>:</a:t>
            </a:r>
          </a:p>
          <a:p>
            <a:pPr>
              <a:defRPr/>
            </a:pPr>
            <a:r>
              <a:rPr lang="hr-HR" sz="1100" dirty="0" err="1">
                <a:solidFill>
                  <a:prstClr val="black"/>
                </a:solidFill>
              </a:rPr>
              <a:t>SQLite</a:t>
            </a:r>
            <a:r>
              <a:rPr lang="hr-HR" sz="1100" dirty="0">
                <a:solidFill>
                  <a:prstClr val="black"/>
                </a:solidFill>
              </a:rPr>
              <a:t> - Razvojno okruženje</a:t>
            </a:r>
          </a:p>
          <a:p>
            <a:pPr>
              <a:defRPr/>
            </a:pPr>
            <a:r>
              <a:rPr lang="hr-HR" sz="1100" dirty="0" err="1">
                <a:solidFill>
                  <a:prstClr val="black"/>
                </a:solidFill>
              </a:rPr>
              <a:t>PostgreSQL</a:t>
            </a:r>
            <a:r>
              <a:rPr lang="hr-HR" sz="1100" dirty="0">
                <a:solidFill>
                  <a:prstClr val="black"/>
                </a:solidFill>
              </a:rPr>
              <a:t> - Pripremljeno za produkciju</a:t>
            </a:r>
          </a:p>
          <a:p>
            <a:pPr marL="0" indent="0">
              <a:buNone/>
            </a:pPr>
            <a:endParaRPr lang="hr-HR" sz="1200" dirty="0"/>
          </a:p>
          <a:p>
            <a:pPr marL="0" indent="0">
              <a:buNone/>
            </a:pPr>
            <a:endParaRPr lang="hr-HR" sz="12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0C0D20E-482F-8792-A6EB-CFFAB498AC91}"/>
              </a:ext>
            </a:extLst>
          </p:cNvPr>
          <p:cNvSpPr txBox="1">
            <a:spLocks/>
          </p:cNvSpPr>
          <p:nvPr/>
        </p:nvSpPr>
        <p:spPr>
          <a:xfrm>
            <a:off x="5972969" y="1415828"/>
            <a:ext cx="4994979" cy="38929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hr-HR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FFE733-ACFD-E235-3874-F05BDE318F62}"/>
              </a:ext>
            </a:extLst>
          </p:cNvPr>
          <p:cNvSpPr txBox="1"/>
          <p:nvPr/>
        </p:nvSpPr>
        <p:spPr>
          <a:xfrm>
            <a:off x="5845707" y="1515841"/>
            <a:ext cx="6041493" cy="467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r-H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Razvojni alati: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Visual</a:t>
            </a:r>
            <a:r>
              <a:rPr kumimoji="0" lang="hr-H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Studio </a:t>
            </a:r>
            <a:r>
              <a:rPr kumimoji="0" lang="hr-HR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Code</a:t>
            </a:r>
            <a:r>
              <a:rPr kumimoji="0" lang="hr-H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- Glavni alat za razvoj s podrškom za više jezika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Git</a:t>
            </a:r>
            <a:r>
              <a:rPr kumimoji="0" lang="hr-H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2.47 - </a:t>
            </a:r>
            <a:r>
              <a:rPr kumimoji="0" lang="hr-HR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Verzioniranje</a:t>
            </a:r>
            <a:r>
              <a:rPr kumimoji="0" lang="hr-H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koda i suradnja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GitHub</a:t>
            </a:r>
            <a:r>
              <a:rPr kumimoji="0" lang="hr-H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- Repozitorij i </a:t>
            </a:r>
            <a:r>
              <a:rPr kumimoji="0" lang="hr-HR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project</a:t>
            </a:r>
            <a:r>
              <a:rPr kumimoji="0" lang="hr-H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management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r-H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Alati za ispitivanje: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Jest - </a:t>
            </a:r>
            <a:r>
              <a:rPr kumimoji="0" lang="hr-HR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Frontend</a:t>
            </a:r>
            <a:r>
              <a:rPr kumimoji="0" lang="hr-H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testiranje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SwaggerUI</a:t>
            </a:r>
            <a:r>
              <a:rPr kumimoji="0" lang="hr-H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- Testiranje i dokumentacija API-ja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r-H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Cloud platforme za smještaj aplikacije: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Railway - </a:t>
            </a:r>
            <a:r>
              <a:rPr kumimoji="0" lang="hr-HR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Backend</a:t>
            </a:r>
            <a:r>
              <a:rPr kumimoji="0" lang="hr-H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hosting s automatskim </a:t>
            </a:r>
            <a:r>
              <a:rPr kumimoji="0" lang="hr-HR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razsmještanjem</a:t>
            </a:r>
            <a:endParaRPr kumimoji="0" lang="hr-HR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Vercel</a:t>
            </a:r>
            <a:r>
              <a:rPr kumimoji="0" lang="hr-H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- </a:t>
            </a:r>
            <a:r>
              <a:rPr kumimoji="0" lang="hr-HR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Frontend</a:t>
            </a:r>
            <a:r>
              <a:rPr kumimoji="0" lang="hr-H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hosting optimiziran za Next.js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Cloudinary</a:t>
            </a:r>
            <a:r>
              <a:rPr kumimoji="0" lang="hr-H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- Cloud </a:t>
            </a:r>
            <a:r>
              <a:rPr kumimoji="0" lang="hr-HR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storage</a:t>
            </a:r>
            <a:r>
              <a:rPr kumimoji="0" lang="hr-H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za slike i PDF dokumente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r-H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Vanjski servisi: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OpenAI</a:t>
            </a:r>
            <a:r>
              <a:rPr kumimoji="0" lang="hr-H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API - AI </a:t>
            </a:r>
            <a:r>
              <a:rPr kumimoji="0" lang="hr-HR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chatbot</a:t>
            </a:r>
            <a:endParaRPr kumimoji="0" lang="hr-HR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Google </a:t>
            </a:r>
            <a:r>
              <a:rPr kumimoji="0" lang="hr-HR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Calendar</a:t>
            </a:r>
            <a:r>
              <a:rPr kumimoji="0" lang="hr-H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API - Sinkronizacija termina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Gmail SMTP - Email notifikacije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Celery</a:t>
            </a:r>
            <a:r>
              <a:rPr kumimoji="0" lang="hr-H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+ </a:t>
            </a:r>
            <a:r>
              <a:rPr kumimoji="0" lang="hr-HR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Redis</a:t>
            </a:r>
            <a:r>
              <a:rPr kumimoji="0" lang="hr-H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- </a:t>
            </a:r>
            <a:r>
              <a:rPr kumimoji="0" lang="hr-HR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Background</a:t>
            </a:r>
            <a:r>
              <a:rPr kumimoji="0" lang="hr-H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hr-HR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tasks</a:t>
            </a:r>
            <a:endParaRPr kumimoji="0" lang="hr-HR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7732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01BC47F-B081-1B59-B31D-E453BF7C0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r-HR" sz="2800" dirty="0">
                <a:latin typeface="Georgia" panose="02040502050405020303" pitchFamily="18" charset="0"/>
              </a:rPr>
              <a:t>UML dijagram obrazaca uporabe</a:t>
            </a:r>
            <a:endParaRPr lang="en-US" sz="2800" dirty="0">
              <a:latin typeface="Georgia" panose="02040502050405020303" pitchFamily="18" charset="0"/>
            </a:endParaRPr>
          </a:p>
        </p:txBody>
      </p:sp>
      <p:pic>
        <p:nvPicPr>
          <p:cNvPr id="8" name="Picture 4" descr="MANDphy - home - Matematička analiza i numeričke metode za ...">
            <a:extLst>
              <a:ext uri="{FF2B5EF4-FFF2-40B4-BE49-F238E27FC236}">
                <a16:creationId xmlns:a16="http://schemas.microsoft.com/office/drawing/2014/main" id="{F86C27B9-FE18-9B9F-F6B2-E600066FF9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28170" r="60194" b="27559"/>
          <a:stretch>
            <a:fillRect/>
          </a:stretch>
        </p:blipFill>
        <p:spPr bwMode="auto">
          <a:xfrm>
            <a:off x="5833178" y="6492875"/>
            <a:ext cx="525644" cy="223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53337D9-CA70-A305-EC6D-726265151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2000" y="6356350"/>
            <a:ext cx="2743200" cy="365125"/>
          </a:xfrm>
        </p:spPr>
        <p:txBody>
          <a:bodyPr/>
          <a:lstStyle/>
          <a:p>
            <a:pPr lvl="1" algn="r"/>
            <a:fld id="{CFD40E17-5F22-405C-8E91-999647307EF5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lvl="1" algn="r"/>
              <a:t>10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EDF48E6-B3C1-6A10-E9A8-B03C6F72D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E5FB-3D1B-424A-A119-878C655A8D2F}" type="datetime1">
              <a:rPr lang="hr-HR" smtClean="0"/>
              <a:t>23.1.2026.</a:t>
            </a:fld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23C036F-33DA-61A6-7EF2-69A21D34890D}"/>
              </a:ext>
            </a:extLst>
          </p:cNvPr>
          <p:cNvSpPr/>
          <p:nvPr/>
        </p:nvSpPr>
        <p:spPr>
          <a:xfrm>
            <a:off x="2325581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Pregled zahtjeva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09B8A7A-95E5-7D58-3FA6-B13918CE1EE8}"/>
              </a:ext>
            </a:extLst>
          </p:cNvPr>
          <p:cNvSpPr/>
          <p:nvPr/>
        </p:nvSpPr>
        <p:spPr>
          <a:xfrm>
            <a:off x="410666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Projekt i tim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D76FDA6-0BA6-8F91-6BBC-5D75A0A478D9}"/>
              </a:ext>
            </a:extLst>
          </p:cNvPr>
          <p:cNvSpPr/>
          <p:nvPr/>
        </p:nvSpPr>
        <p:spPr>
          <a:xfrm>
            <a:off x="4240496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Korišteni alati i tehnologije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B402CAF-802A-735E-4067-E9507BAB56E5}"/>
              </a:ext>
            </a:extLst>
          </p:cNvPr>
          <p:cNvSpPr/>
          <p:nvPr/>
        </p:nvSpPr>
        <p:spPr>
          <a:xfrm>
            <a:off x="6155411" y="0"/>
            <a:ext cx="1796092" cy="3683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Arhitektura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CB6D9A7-368A-FBED-9C80-9433CA198C8C}"/>
              </a:ext>
            </a:extLst>
          </p:cNvPr>
          <p:cNvSpPr/>
          <p:nvPr/>
        </p:nvSpPr>
        <p:spPr>
          <a:xfrm>
            <a:off x="9985242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Iskustva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A0BD729-7839-7409-AA6F-1F441706DD9F}"/>
              </a:ext>
            </a:extLst>
          </p:cNvPr>
          <p:cNvSpPr/>
          <p:nvPr/>
        </p:nvSpPr>
        <p:spPr>
          <a:xfrm>
            <a:off x="8070326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Organizacija rada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14A41A73-0D8C-6011-C585-23356A5270FE}"/>
              </a:ext>
            </a:extLst>
          </p:cNvPr>
          <p:cNvSpPr txBox="1">
            <a:spLocks/>
          </p:cNvSpPr>
          <p:nvPr/>
        </p:nvSpPr>
        <p:spPr>
          <a:xfrm>
            <a:off x="897611" y="1397547"/>
            <a:ext cx="10515600" cy="4485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Prikazuje glavne korisnike i njihove interakcije s aplikacijom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UseCase01">
            <a:extLst>
              <a:ext uri="{FF2B5EF4-FFF2-40B4-BE49-F238E27FC236}">
                <a16:creationId xmlns:a16="http://schemas.microsoft.com/office/drawing/2014/main" id="{A86BEF62-67C4-5A76-8A86-22236713E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65" y="2719932"/>
            <a:ext cx="3395129" cy="2285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seCase02">
            <a:extLst>
              <a:ext uri="{FF2B5EF4-FFF2-40B4-BE49-F238E27FC236}">
                <a16:creationId xmlns:a16="http://schemas.microsoft.com/office/drawing/2014/main" id="{1E29A0C1-8FAC-D912-05C8-4FAC4DE4D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8791" y="2719935"/>
            <a:ext cx="3450696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seCase03">
            <a:extLst>
              <a:ext uri="{FF2B5EF4-FFF2-40B4-BE49-F238E27FC236}">
                <a16:creationId xmlns:a16="http://schemas.microsoft.com/office/drawing/2014/main" id="{19B6245B-1734-499A-E593-586CB3CD1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484" y="2719933"/>
            <a:ext cx="3938850" cy="2285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BFD0F80-3D74-3505-096D-9CA69D023C89}"/>
              </a:ext>
            </a:extLst>
          </p:cNvPr>
          <p:cNvCxnSpPr>
            <a:cxnSpLocks/>
          </p:cNvCxnSpPr>
          <p:nvPr/>
        </p:nvCxnSpPr>
        <p:spPr>
          <a:xfrm>
            <a:off x="410665" y="2533650"/>
            <a:ext cx="3395129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itle 1">
            <a:extLst>
              <a:ext uri="{FF2B5EF4-FFF2-40B4-BE49-F238E27FC236}">
                <a16:creationId xmlns:a16="http://schemas.microsoft.com/office/drawing/2014/main" id="{FEBD60E3-B1EB-BB9F-4B0D-2444CC1FCC28}"/>
              </a:ext>
            </a:extLst>
          </p:cNvPr>
          <p:cNvSpPr txBox="1">
            <a:spLocks/>
          </p:cNvSpPr>
          <p:nvPr/>
        </p:nvSpPr>
        <p:spPr>
          <a:xfrm>
            <a:off x="410665" y="2178050"/>
            <a:ext cx="3395129" cy="312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Funkcionalnosti studenta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DE579FD-F6AC-296A-9AD5-025A731D0B0B}"/>
              </a:ext>
            </a:extLst>
          </p:cNvPr>
          <p:cNvCxnSpPr>
            <a:cxnSpLocks/>
          </p:cNvCxnSpPr>
          <p:nvPr/>
        </p:nvCxnSpPr>
        <p:spPr>
          <a:xfrm>
            <a:off x="4098791" y="2533650"/>
            <a:ext cx="3450696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itle 1">
            <a:extLst>
              <a:ext uri="{FF2B5EF4-FFF2-40B4-BE49-F238E27FC236}">
                <a16:creationId xmlns:a16="http://schemas.microsoft.com/office/drawing/2014/main" id="{8C6B9244-6457-AE42-3476-0F0C08949790}"/>
              </a:ext>
            </a:extLst>
          </p:cNvPr>
          <p:cNvSpPr txBox="1">
            <a:spLocks/>
          </p:cNvSpPr>
          <p:nvPr/>
        </p:nvSpPr>
        <p:spPr>
          <a:xfrm>
            <a:off x="4098791" y="2178050"/>
            <a:ext cx="3395129" cy="312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Funkcionalnosti psihologa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3F79923-5B0D-65D3-E205-F241C0ED5E39}"/>
              </a:ext>
            </a:extLst>
          </p:cNvPr>
          <p:cNvCxnSpPr>
            <a:cxnSpLocks/>
          </p:cNvCxnSpPr>
          <p:nvPr/>
        </p:nvCxnSpPr>
        <p:spPr>
          <a:xfrm>
            <a:off x="7842484" y="2533650"/>
            <a:ext cx="393885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itle 1">
            <a:extLst>
              <a:ext uri="{FF2B5EF4-FFF2-40B4-BE49-F238E27FC236}">
                <a16:creationId xmlns:a16="http://schemas.microsoft.com/office/drawing/2014/main" id="{0B9BD9D7-1279-ED3A-1D3B-177B8A5C5677}"/>
              </a:ext>
            </a:extLst>
          </p:cNvPr>
          <p:cNvSpPr txBox="1">
            <a:spLocks/>
          </p:cNvSpPr>
          <p:nvPr/>
        </p:nvSpPr>
        <p:spPr>
          <a:xfrm>
            <a:off x="7842484" y="2178050"/>
            <a:ext cx="3395129" cy="312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Funkcionalnosti administratora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638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CD67F-FA32-D9F6-4336-10AF200F5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E6B4B3-C461-B7F7-9FB4-949695C29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r-HR" sz="2800" dirty="0">
                <a:latin typeface="Georgia" panose="02040502050405020303" pitchFamily="18" charset="0"/>
              </a:rPr>
              <a:t>Sekvencijski dijagram</a:t>
            </a:r>
            <a:endParaRPr lang="en-US" sz="2800" dirty="0">
              <a:latin typeface="Georgia" panose="02040502050405020303" pitchFamily="18" charset="0"/>
            </a:endParaRPr>
          </a:p>
        </p:txBody>
      </p:sp>
      <p:pic>
        <p:nvPicPr>
          <p:cNvPr id="8" name="Picture 4" descr="MANDphy - home - Matematička analiza i numeričke metode za ...">
            <a:extLst>
              <a:ext uri="{FF2B5EF4-FFF2-40B4-BE49-F238E27FC236}">
                <a16:creationId xmlns:a16="http://schemas.microsoft.com/office/drawing/2014/main" id="{3F55D87C-4977-1548-46F5-F54B4FFEEF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28170" r="60194" b="27559"/>
          <a:stretch>
            <a:fillRect/>
          </a:stretch>
        </p:blipFill>
        <p:spPr bwMode="auto">
          <a:xfrm>
            <a:off x="5833178" y="6492875"/>
            <a:ext cx="525644" cy="223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699B97-938F-DB7E-22F4-A41C788CB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2000" y="6356350"/>
            <a:ext cx="2743200" cy="365125"/>
          </a:xfrm>
        </p:spPr>
        <p:txBody>
          <a:bodyPr/>
          <a:lstStyle/>
          <a:p>
            <a:pPr lvl="1" algn="r"/>
            <a:fld id="{CFD40E17-5F22-405C-8E91-999647307EF5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lvl="1" algn="r"/>
              <a:t>11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BD7C23E-D877-048A-87E8-D7F94B75A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E5FB-3D1B-424A-A119-878C655A8D2F}" type="datetime1">
              <a:rPr lang="hr-HR" smtClean="0"/>
              <a:t>23.1.2026.</a:t>
            </a:fld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229728E-D70A-0BFF-CF98-A562BA114728}"/>
              </a:ext>
            </a:extLst>
          </p:cNvPr>
          <p:cNvSpPr/>
          <p:nvPr/>
        </p:nvSpPr>
        <p:spPr>
          <a:xfrm>
            <a:off x="2325581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Pregled zahtjeva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06D5EE2-110C-785D-557A-B1D3322C1A67}"/>
              </a:ext>
            </a:extLst>
          </p:cNvPr>
          <p:cNvSpPr/>
          <p:nvPr/>
        </p:nvSpPr>
        <p:spPr>
          <a:xfrm>
            <a:off x="410666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Projekt i tim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F812D97-60C4-77EB-FF9D-6768D3083D2C}"/>
              </a:ext>
            </a:extLst>
          </p:cNvPr>
          <p:cNvSpPr/>
          <p:nvPr/>
        </p:nvSpPr>
        <p:spPr>
          <a:xfrm>
            <a:off x="4240496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Korišteni alati i tehnologije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C1D35D5-A28F-E8B3-69FC-F794D880B13C}"/>
              </a:ext>
            </a:extLst>
          </p:cNvPr>
          <p:cNvSpPr/>
          <p:nvPr/>
        </p:nvSpPr>
        <p:spPr>
          <a:xfrm>
            <a:off x="6155411" y="0"/>
            <a:ext cx="1796092" cy="3683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Arhitektura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3FB9B37-B3AC-A02F-1D25-02D8BF6860EF}"/>
              </a:ext>
            </a:extLst>
          </p:cNvPr>
          <p:cNvSpPr/>
          <p:nvPr/>
        </p:nvSpPr>
        <p:spPr>
          <a:xfrm>
            <a:off x="9985242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Iskustva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2C6E941-DFE3-61C9-3862-7BD121A6FA7E}"/>
              </a:ext>
            </a:extLst>
          </p:cNvPr>
          <p:cNvSpPr/>
          <p:nvPr/>
        </p:nvSpPr>
        <p:spPr>
          <a:xfrm>
            <a:off x="8070326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Organizacija rada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0BD3F24-FADD-1D6B-E470-ABFC4E362622}"/>
              </a:ext>
            </a:extLst>
          </p:cNvPr>
          <p:cNvGrpSpPr/>
          <p:nvPr/>
        </p:nvGrpSpPr>
        <p:grpSpPr>
          <a:xfrm>
            <a:off x="3734345" y="1606550"/>
            <a:ext cx="4723310" cy="4481283"/>
            <a:chOff x="410665" y="1606550"/>
            <a:chExt cx="4723310" cy="4481283"/>
          </a:xfrm>
        </p:grpSpPr>
        <p:pic>
          <p:nvPicPr>
            <p:cNvPr id="2050" name="Picture 2" descr="Sequence01">
              <a:extLst>
                <a:ext uri="{FF2B5EF4-FFF2-40B4-BE49-F238E27FC236}">
                  <a16:creationId xmlns:a16="http://schemas.microsoft.com/office/drawing/2014/main" id="{6B16FC80-1C35-3E52-4357-511CAA237D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0666" y="2053690"/>
              <a:ext cx="4723309" cy="40341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5CC285C6-9CAB-EE79-8ADE-D330C3C2172E}"/>
                </a:ext>
              </a:extLst>
            </p:cNvPr>
            <p:cNvCxnSpPr>
              <a:cxnSpLocks/>
            </p:cNvCxnSpPr>
            <p:nvPr/>
          </p:nvCxnSpPr>
          <p:spPr>
            <a:xfrm>
              <a:off x="410665" y="1962150"/>
              <a:ext cx="4699498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927FC85D-BFEA-2EE2-2F02-51E5E0305E83}"/>
                </a:ext>
              </a:extLst>
            </p:cNvPr>
            <p:cNvSpPr txBox="1">
              <a:spLocks/>
            </p:cNvSpPr>
            <p:nvPr/>
          </p:nvSpPr>
          <p:spPr>
            <a:xfrm>
              <a:off x="410665" y="1606550"/>
              <a:ext cx="3395129" cy="31293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hr-HR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Registracija korisnika u sustav</a:t>
              </a:r>
              <a:endPara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4001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6EFCA-C49E-6FAB-226D-94F79DC12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A4A53A-37FB-0AEF-E61D-3800B6732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r-HR" sz="2800" dirty="0">
                <a:latin typeface="Georgia" panose="02040502050405020303" pitchFamily="18" charset="0"/>
              </a:rPr>
              <a:t>Ispitivanje</a:t>
            </a:r>
            <a:endParaRPr lang="en-US" sz="2800" dirty="0">
              <a:latin typeface="Georgia" panose="02040502050405020303" pitchFamily="18" charset="0"/>
            </a:endParaRPr>
          </a:p>
        </p:txBody>
      </p:sp>
      <p:pic>
        <p:nvPicPr>
          <p:cNvPr id="8" name="Picture 4" descr="MANDphy - home - Matematička analiza i numeričke metode za ...">
            <a:extLst>
              <a:ext uri="{FF2B5EF4-FFF2-40B4-BE49-F238E27FC236}">
                <a16:creationId xmlns:a16="http://schemas.microsoft.com/office/drawing/2014/main" id="{605BCE2C-EC12-750A-2087-2976919D7C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28170" r="60194" b="27559"/>
          <a:stretch>
            <a:fillRect/>
          </a:stretch>
        </p:blipFill>
        <p:spPr bwMode="auto">
          <a:xfrm>
            <a:off x="5833178" y="6492875"/>
            <a:ext cx="525644" cy="223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18EEE5D-08B8-1228-3C44-02C93B5D3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2000" y="6356350"/>
            <a:ext cx="2743200" cy="365125"/>
          </a:xfrm>
        </p:spPr>
        <p:txBody>
          <a:bodyPr/>
          <a:lstStyle/>
          <a:p>
            <a:pPr lvl="1" algn="r"/>
            <a:fld id="{CFD40E17-5F22-405C-8E91-999647307EF5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lvl="1" algn="r"/>
              <a:t>12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C02B50B-00B5-EEFC-FF1C-2847D8DA2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E5FB-3D1B-424A-A119-878C655A8D2F}" type="datetime1">
              <a:rPr lang="hr-HR" smtClean="0"/>
              <a:t>24.1.2026.</a:t>
            </a:fld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5EB81FF-5E86-781C-10E6-E02D4268C69B}"/>
              </a:ext>
            </a:extLst>
          </p:cNvPr>
          <p:cNvSpPr/>
          <p:nvPr/>
        </p:nvSpPr>
        <p:spPr>
          <a:xfrm>
            <a:off x="2325581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Pregled zahtjeva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8D9C2E6-98D6-8EB3-5B6D-3B98428AA56A}"/>
              </a:ext>
            </a:extLst>
          </p:cNvPr>
          <p:cNvSpPr/>
          <p:nvPr/>
        </p:nvSpPr>
        <p:spPr>
          <a:xfrm>
            <a:off x="410666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Projekt i tim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BF6095A-B663-BCFD-C45B-8E8E86A058AF}"/>
              </a:ext>
            </a:extLst>
          </p:cNvPr>
          <p:cNvSpPr/>
          <p:nvPr/>
        </p:nvSpPr>
        <p:spPr>
          <a:xfrm>
            <a:off x="4240496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Korišteni alati i tehnologije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0521CDF-9E42-16C5-41BF-5B323E6F4D41}"/>
              </a:ext>
            </a:extLst>
          </p:cNvPr>
          <p:cNvSpPr/>
          <p:nvPr/>
        </p:nvSpPr>
        <p:spPr>
          <a:xfrm>
            <a:off x="6155411" y="0"/>
            <a:ext cx="1796092" cy="3683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Arhitektura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B9C208F-E38D-253F-3D1C-2E06D3BFFFF9}"/>
              </a:ext>
            </a:extLst>
          </p:cNvPr>
          <p:cNvSpPr/>
          <p:nvPr/>
        </p:nvSpPr>
        <p:spPr>
          <a:xfrm>
            <a:off x="9985242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Iskustva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50FA8FD-3700-871B-8FDF-B5C4B3EC8233}"/>
              </a:ext>
            </a:extLst>
          </p:cNvPr>
          <p:cNvSpPr/>
          <p:nvPr/>
        </p:nvSpPr>
        <p:spPr>
          <a:xfrm>
            <a:off x="8070326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Organizacija rada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4C4E0BE-0D0F-BB59-B7A8-3B95C38C6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194" y="1466658"/>
            <a:ext cx="4994979" cy="38929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r-HR" sz="1600" b="1" dirty="0"/>
              <a:t>Organizacija ispitivanja:</a:t>
            </a:r>
          </a:p>
          <a:p>
            <a:r>
              <a:rPr lang="hr-HR" sz="1400" dirty="0" err="1"/>
              <a:t>SwaggerUI</a:t>
            </a:r>
            <a:r>
              <a:rPr lang="hr-HR" sz="1400" dirty="0"/>
              <a:t> za testiranje API krajnjih točaka</a:t>
            </a:r>
          </a:p>
          <a:p>
            <a:r>
              <a:rPr lang="hr-HR" sz="1400" dirty="0"/>
              <a:t>Jest za testiranje </a:t>
            </a:r>
            <a:r>
              <a:rPr lang="hr-HR" sz="1400" dirty="0" err="1"/>
              <a:t>frontend</a:t>
            </a:r>
            <a:r>
              <a:rPr lang="hr-HR" sz="1400" dirty="0"/>
              <a:t> komponenti</a:t>
            </a:r>
          </a:p>
          <a:p>
            <a:r>
              <a:rPr lang="hr-HR" sz="1400" dirty="0" err="1"/>
              <a:t>Django</a:t>
            </a:r>
            <a:r>
              <a:rPr lang="hr-HR" sz="1400" dirty="0"/>
              <a:t> test </a:t>
            </a:r>
            <a:r>
              <a:rPr lang="hr-HR" sz="1400" dirty="0" err="1"/>
              <a:t>framework</a:t>
            </a:r>
            <a:r>
              <a:rPr lang="hr-HR" sz="1400" dirty="0"/>
              <a:t> za </a:t>
            </a:r>
            <a:r>
              <a:rPr lang="hr-HR" sz="1400" dirty="0" err="1"/>
              <a:t>backend</a:t>
            </a:r>
            <a:r>
              <a:rPr lang="hr-HR" sz="1400" dirty="0"/>
              <a:t> </a:t>
            </a:r>
            <a:r>
              <a:rPr lang="hr-HR" sz="1400" dirty="0" err="1"/>
              <a:t>unit</a:t>
            </a:r>
            <a:r>
              <a:rPr lang="hr-HR" sz="1400" dirty="0"/>
              <a:t> testove</a:t>
            </a:r>
          </a:p>
          <a:p>
            <a:pPr marL="0" indent="0">
              <a:buNone/>
            </a:pPr>
            <a:endParaRPr lang="hr-HR" sz="1400" dirty="0"/>
          </a:p>
          <a:p>
            <a:pPr marL="0" indent="0">
              <a:buNone/>
            </a:pPr>
            <a:r>
              <a:rPr lang="hr-HR" sz="1400" b="1" dirty="0"/>
              <a:t>Ispitivanje komponenti:</a:t>
            </a:r>
          </a:p>
          <a:p>
            <a:r>
              <a:rPr lang="hr-HR" sz="1400" dirty="0"/>
              <a:t>Autentifikacija (JWT tokeni, Google </a:t>
            </a:r>
            <a:r>
              <a:rPr lang="hr-HR" sz="1400" dirty="0" err="1"/>
              <a:t>OAuth</a:t>
            </a:r>
            <a:r>
              <a:rPr lang="hr-HR" sz="1400" dirty="0"/>
              <a:t>)</a:t>
            </a:r>
          </a:p>
          <a:p>
            <a:r>
              <a:rPr lang="hr-HR" sz="1400" dirty="0"/>
              <a:t>AI </a:t>
            </a:r>
            <a:r>
              <a:rPr lang="hr-HR" sz="1400" dirty="0" err="1"/>
              <a:t>chatbot</a:t>
            </a:r>
            <a:r>
              <a:rPr lang="hr-HR" sz="1400" dirty="0"/>
              <a:t> komunikacija (</a:t>
            </a:r>
            <a:r>
              <a:rPr lang="hr-HR" sz="1400" dirty="0" err="1"/>
              <a:t>OpenAI</a:t>
            </a:r>
            <a:r>
              <a:rPr lang="hr-HR" sz="1400" dirty="0"/>
              <a:t> API)</a:t>
            </a:r>
          </a:p>
          <a:p>
            <a:r>
              <a:rPr lang="hr-HR" sz="1400" dirty="0" err="1"/>
              <a:t>Appointment</a:t>
            </a:r>
            <a:r>
              <a:rPr lang="hr-HR" sz="1400" dirty="0"/>
              <a:t> </a:t>
            </a:r>
            <a:r>
              <a:rPr lang="hr-HR" sz="1400" dirty="0" err="1"/>
              <a:t>request</a:t>
            </a:r>
            <a:r>
              <a:rPr lang="hr-HR" sz="1400" dirty="0"/>
              <a:t> i </a:t>
            </a:r>
            <a:r>
              <a:rPr lang="hr-HR" sz="1400" dirty="0" err="1"/>
              <a:t>approval</a:t>
            </a:r>
            <a:r>
              <a:rPr lang="hr-HR" sz="1400" dirty="0"/>
              <a:t> </a:t>
            </a:r>
            <a:r>
              <a:rPr lang="hr-HR" sz="1400" dirty="0" err="1"/>
              <a:t>flow</a:t>
            </a:r>
            <a:endParaRPr lang="hr-HR" sz="1400" dirty="0"/>
          </a:p>
          <a:p>
            <a:r>
              <a:rPr lang="hr-HR" sz="1400" dirty="0"/>
              <a:t>Enkripcija/</a:t>
            </a:r>
            <a:r>
              <a:rPr lang="hr-HR" sz="1400" dirty="0" err="1"/>
              <a:t>dekripcija</a:t>
            </a:r>
            <a:r>
              <a:rPr lang="hr-HR" sz="1400" dirty="0"/>
              <a:t> dnevnika (</a:t>
            </a:r>
            <a:r>
              <a:rPr lang="hr-HR" sz="1400" dirty="0" err="1"/>
              <a:t>Fernet</a:t>
            </a:r>
            <a:r>
              <a:rPr lang="hr-HR" sz="1400" dirty="0"/>
              <a:t>)</a:t>
            </a:r>
          </a:p>
          <a:p>
            <a:r>
              <a:rPr lang="hr-HR" sz="1400" dirty="0"/>
              <a:t>Search i filtriranje psihologa</a:t>
            </a:r>
          </a:p>
          <a:p>
            <a:r>
              <a:rPr lang="hr-HR" sz="1400" dirty="0"/>
              <a:t>Google </a:t>
            </a:r>
            <a:r>
              <a:rPr lang="hr-HR" sz="1400" dirty="0" err="1"/>
              <a:t>Calendar</a:t>
            </a:r>
            <a:r>
              <a:rPr lang="hr-HR" sz="1400" dirty="0"/>
              <a:t> sinkronizacija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52998C-6CE7-D648-999B-2D886804449F}"/>
              </a:ext>
            </a:extLst>
          </p:cNvPr>
          <p:cNvSpPr txBox="1"/>
          <p:nvPr/>
        </p:nvSpPr>
        <p:spPr>
          <a:xfrm>
            <a:off x="5204637" y="3139301"/>
            <a:ext cx="6362700" cy="2220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r-H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Ispitivanje sustava: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Registracija i prijava korisnika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AI razgovor i kategorizacija problema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Zakazivanje termina s psihologom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Google </a:t>
            </a:r>
            <a:r>
              <a:rPr kumimoji="0" lang="hr-H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Calendar</a:t>
            </a:r>
            <a:r>
              <a:rPr kumimoji="0" lang="hr-H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integracija s </a:t>
            </a:r>
            <a:r>
              <a:rPr kumimoji="0" lang="hr-H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Meet</a:t>
            </a:r>
            <a:r>
              <a:rPr kumimoji="0" lang="hr-H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linkom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Email notifikacije za termine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Rubni slučajevi s neispravnim parametrima </a:t>
            </a:r>
          </a:p>
        </p:txBody>
      </p:sp>
    </p:spTree>
    <p:extLst>
      <p:ext uri="{BB962C8B-B14F-4D97-AF65-F5344CB8AC3E}">
        <p14:creationId xmlns:p14="http://schemas.microsoft.com/office/powerpoint/2010/main" val="966300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88391-A002-5F76-159D-8950AC989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D506B66-1350-6BB2-E04D-BA22BD684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r-HR" sz="2800" dirty="0">
                <a:latin typeface="Georgia" panose="02040502050405020303" pitchFamily="18" charset="0"/>
              </a:rPr>
              <a:t>Organizacija rada</a:t>
            </a:r>
            <a:endParaRPr lang="en-US" sz="2800" dirty="0">
              <a:latin typeface="Georgia" panose="02040502050405020303" pitchFamily="18" charset="0"/>
            </a:endParaRPr>
          </a:p>
        </p:txBody>
      </p:sp>
      <p:pic>
        <p:nvPicPr>
          <p:cNvPr id="8" name="Picture 4" descr="MANDphy - home - Matematička analiza i numeričke metode za ...">
            <a:extLst>
              <a:ext uri="{FF2B5EF4-FFF2-40B4-BE49-F238E27FC236}">
                <a16:creationId xmlns:a16="http://schemas.microsoft.com/office/drawing/2014/main" id="{2DCB4987-9DC9-9E0D-FF2F-4F4DD4AC91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28170" r="60194" b="27559"/>
          <a:stretch>
            <a:fillRect/>
          </a:stretch>
        </p:blipFill>
        <p:spPr bwMode="auto">
          <a:xfrm>
            <a:off x="5833178" y="6492875"/>
            <a:ext cx="525644" cy="223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C1546AF-54B7-1D01-4781-58F643880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2000" y="6356350"/>
            <a:ext cx="2743200" cy="365125"/>
          </a:xfrm>
        </p:spPr>
        <p:txBody>
          <a:bodyPr/>
          <a:lstStyle/>
          <a:p>
            <a:pPr lvl="1" algn="r"/>
            <a:fld id="{CFD40E17-5F22-405C-8E91-999647307EF5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lvl="1" algn="r"/>
              <a:t>13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54786A6-D21E-15B3-D122-980E0A01D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E5FB-3D1B-424A-A119-878C655A8D2F}" type="datetime1">
              <a:rPr lang="hr-HR" smtClean="0"/>
              <a:t>23.1.2026.</a:t>
            </a:fld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59EC4A6-C7EB-BEFD-4BBF-8D6E22067CC7}"/>
              </a:ext>
            </a:extLst>
          </p:cNvPr>
          <p:cNvSpPr/>
          <p:nvPr/>
        </p:nvSpPr>
        <p:spPr>
          <a:xfrm>
            <a:off x="2325581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Pregled zahtjeva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17E5CBD-C2B8-7C10-E272-D193AC0A4871}"/>
              </a:ext>
            </a:extLst>
          </p:cNvPr>
          <p:cNvSpPr/>
          <p:nvPr/>
        </p:nvSpPr>
        <p:spPr>
          <a:xfrm>
            <a:off x="410666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Projekt i tim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A234E39-E662-0DE4-004F-54D39492EA4C}"/>
              </a:ext>
            </a:extLst>
          </p:cNvPr>
          <p:cNvSpPr/>
          <p:nvPr/>
        </p:nvSpPr>
        <p:spPr>
          <a:xfrm>
            <a:off x="4240496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Korišteni alati i tehnologije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3B869D0-09EF-356E-A045-EEFCA95CFD89}"/>
              </a:ext>
            </a:extLst>
          </p:cNvPr>
          <p:cNvSpPr/>
          <p:nvPr/>
        </p:nvSpPr>
        <p:spPr>
          <a:xfrm>
            <a:off x="6155411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Arhitektura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BA3CE9F-E735-6E2E-FA16-EA031684A838}"/>
              </a:ext>
            </a:extLst>
          </p:cNvPr>
          <p:cNvSpPr/>
          <p:nvPr/>
        </p:nvSpPr>
        <p:spPr>
          <a:xfrm>
            <a:off x="9985242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Iskustva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36ED1C0-4E9A-FD56-0DD9-52A2BF2CB9A6}"/>
              </a:ext>
            </a:extLst>
          </p:cNvPr>
          <p:cNvSpPr/>
          <p:nvPr/>
        </p:nvSpPr>
        <p:spPr>
          <a:xfrm>
            <a:off x="8070326" y="0"/>
            <a:ext cx="1796092" cy="3683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Organizacija rada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73236F9-DFE5-E90D-3CD0-0ACCF8CFF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194" y="1466658"/>
            <a:ext cx="4994979" cy="38929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r-HR" sz="1600" b="1" dirty="0"/>
              <a:t>Organizacija komunikacije</a:t>
            </a:r>
            <a:endParaRPr lang="hr-HR" sz="1200" dirty="0"/>
          </a:p>
          <a:p>
            <a:r>
              <a:rPr lang="hr-HR" sz="1200" b="1" dirty="0"/>
              <a:t>Glavni kanali:</a:t>
            </a:r>
          </a:p>
          <a:p>
            <a:pPr lvl="1"/>
            <a:r>
              <a:rPr lang="hr-HR" sz="1200" dirty="0" err="1"/>
              <a:t>GitHub</a:t>
            </a:r>
            <a:r>
              <a:rPr lang="hr-HR" sz="1200" dirty="0"/>
              <a:t> - upravljanje zadacima i dokumentacija</a:t>
            </a:r>
          </a:p>
          <a:p>
            <a:pPr lvl="1"/>
            <a:r>
              <a:rPr lang="hr-HR" sz="1200" dirty="0"/>
              <a:t>Microsoft </a:t>
            </a:r>
            <a:r>
              <a:rPr lang="hr-HR" sz="1200" dirty="0" err="1"/>
              <a:t>Teams</a:t>
            </a:r>
            <a:r>
              <a:rPr lang="hr-HR" sz="1200" dirty="0"/>
              <a:t> - detaljne tehničke rasprave i svakodnevna komunikacija</a:t>
            </a:r>
          </a:p>
          <a:p>
            <a:pPr lvl="1"/>
            <a:r>
              <a:rPr lang="hr-HR" sz="1200" dirty="0"/>
              <a:t>WhatsApp - brza komunikacija i dogovori</a:t>
            </a:r>
          </a:p>
          <a:p>
            <a:r>
              <a:rPr lang="hr-HR" sz="1200" b="1" dirty="0"/>
              <a:t>Tjedni ili dvotjedni sastanci (petkom u 14:00)</a:t>
            </a:r>
          </a:p>
          <a:p>
            <a:pPr lvl="1"/>
            <a:r>
              <a:rPr lang="hr-HR" sz="1200" dirty="0"/>
              <a:t>Pregled napretka i rasprava o mogućim poboljšanjima</a:t>
            </a:r>
          </a:p>
          <a:p>
            <a:r>
              <a:rPr lang="hr-HR" sz="1200" b="1" dirty="0" err="1"/>
              <a:t>GitHub</a:t>
            </a:r>
            <a:r>
              <a:rPr lang="hr-HR" sz="1200" b="1" dirty="0"/>
              <a:t> iskustvo</a:t>
            </a:r>
          </a:p>
          <a:p>
            <a:pPr lvl="1"/>
            <a:r>
              <a:rPr lang="hr-HR" sz="1200" dirty="0"/>
              <a:t>Svi članovi tima imali su prethodno iskustvo s </a:t>
            </a:r>
            <a:r>
              <a:rPr lang="hr-HR" sz="1200" dirty="0" err="1"/>
              <a:t>GitHubom</a:t>
            </a:r>
            <a:r>
              <a:rPr lang="hr-HR" sz="1200" dirty="0"/>
              <a:t>, ali ne previše</a:t>
            </a:r>
          </a:p>
          <a:p>
            <a:pPr lvl="1"/>
            <a:r>
              <a:rPr lang="hr-HR" sz="1200" dirty="0"/>
              <a:t>Rad kroz </a:t>
            </a:r>
            <a:r>
              <a:rPr lang="hr-HR" sz="1200" dirty="0" err="1"/>
              <a:t>dev</a:t>
            </a:r>
            <a:r>
              <a:rPr lang="hr-HR" sz="1200" dirty="0"/>
              <a:t> granu s </a:t>
            </a:r>
            <a:r>
              <a:rPr lang="hr-HR" sz="1200" dirty="0" err="1"/>
              <a:t>pull</a:t>
            </a:r>
            <a:r>
              <a:rPr lang="hr-HR" sz="1200" dirty="0"/>
              <a:t> </a:t>
            </a:r>
            <a:r>
              <a:rPr lang="hr-HR" sz="1200" dirty="0" err="1"/>
              <a:t>requestovima</a:t>
            </a:r>
            <a:r>
              <a:rPr lang="hr-HR" sz="1200" dirty="0"/>
              <a:t> i </a:t>
            </a:r>
            <a:r>
              <a:rPr lang="hr-HR" sz="1200" dirty="0" err="1"/>
              <a:t>code</a:t>
            </a:r>
            <a:r>
              <a:rPr lang="hr-HR" sz="1200" dirty="0"/>
              <a:t> </a:t>
            </a:r>
            <a:r>
              <a:rPr lang="hr-HR" sz="1200" dirty="0" err="1"/>
              <a:t>review</a:t>
            </a:r>
            <a:r>
              <a:rPr lang="hr-HR" sz="1200" dirty="0"/>
              <a:t> za svaki </a:t>
            </a:r>
            <a:r>
              <a:rPr lang="hr-HR" sz="1200" dirty="0" err="1"/>
              <a:t>feature</a:t>
            </a:r>
            <a:endParaRPr lang="hr-HR" sz="1200" dirty="0"/>
          </a:p>
          <a:p>
            <a:pPr lvl="1"/>
            <a:r>
              <a:rPr lang="hr-HR" sz="1200" dirty="0"/>
              <a:t>Luka </a:t>
            </a:r>
            <a:r>
              <a:rPr lang="hr-HR" sz="1200" dirty="0" err="1"/>
              <a:t>Bubnjević</a:t>
            </a:r>
            <a:r>
              <a:rPr lang="hr-HR" sz="1200" dirty="0"/>
              <a:t> - odgovoran za </a:t>
            </a:r>
            <a:r>
              <a:rPr lang="hr-HR" sz="1200" dirty="0" err="1"/>
              <a:t>verzioniranje</a:t>
            </a:r>
            <a:r>
              <a:rPr lang="hr-HR" sz="1200" dirty="0"/>
              <a:t> i rješavanje konflikata</a:t>
            </a:r>
          </a:p>
          <a:p>
            <a:pPr marL="0" indent="0">
              <a:buNone/>
            </a:pPr>
            <a:endParaRPr lang="hr-HR" sz="12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CEE3E0E-AC4C-9853-9AD5-9A349C55830A}"/>
              </a:ext>
            </a:extLst>
          </p:cNvPr>
          <p:cNvSpPr txBox="1">
            <a:spLocks/>
          </p:cNvSpPr>
          <p:nvPr/>
        </p:nvSpPr>
        <p:spPr>
          <a:xfrm>
            <a:off x="5787208" y="1466658"/>
            <a:ext cx="4917737" cy="38929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r-HR" sz="1600" b="1" dirty="0"/>
              <a:t>Primijenjeni model životnog ciklusa</a:t>
            </a:r>
          </a:p>
          <a:p>
            <a:r>
              <a:rPr lang="hr-HR" sz="1200" b="1" dirty="0"/>
              <a:t>Iterativni pristup s elementima vodopada:</a:t>
            </a:r>
          </a:p>
          <a:p>
            <a:pPr lvl="1"/>
            <a:r>
              <a:rPr lang="hr-HR" sz="1200" dirty="0"/>
              <a:t>Početna faza - definiranje specifikacija i dizajna</a:t>
            </a:r>
          </a:p>
          <a:p>
            <a:pPr lvl="1"/>
            <a:r>
              <a:rPr lang="hr-HR" sz="1200" dirty="0"/>
              <a:t>Iterativna implementacija s redovitim revizijama</a:t>
            </a:r>
          </a:p>
          <a:p>
            <a:pPr lvl="1"/>
            <a:r>
              <a:rPr lang="hr-HR" sz="1200" dirty="0"/>
              <a:t>Kontinuirano testiranje i dokumentacija</a:t>
            </a:r>
          </a:p>
          <a:p>
            <a:r>
              <a:rPr lang="hr-HR" sz="1200" b="1" dirty="0"/>
              <a:t>Vremenski okvir razvoja</a:t>
            </a:r>
          </a:p>
          <a:p>
            <a:pPr lvl="1"/>
            <a:r>
              <a:rPr lang="hr-HR" sz="1200" dirty="0"/>
              <a:t>Razvoj podijeljen u faze: specifikacija, implementacija, testiranje, dokumentacija</a:t>
            </a:r>
          </a:p>
          <a:p>
            <a:pPr lvl="1"/>
            <a:r>
              <a:rPr lang="hr-HR" sz="1200" dirty="0"/>
              <a:t>Redoviti pregledi napretka i prilagodbe plana</a:t>
            </a:r>
          </a:p>
          <a:p>
            <a:pPr lvl="1"/>
            <a:r>
              <a:rPr lang="hr-HR" sz="1200" dirty="0"/>
              <a:t>Grafički prikaz korišten za praćenje napretka (</a:t>
            </a:r>
            <a:r>
              <a:rPr lang="hr-HR" sz="1200" dirty="0" err="1"/>
              <a:t>GitHub</a:t>
            </a:r>
            <a:r>
              <a:rPr lang="hr-HR" sz="1200" dirty="0"/>
              <a:t> </a:t>
            </a:r>
            <a:r>
              <a:rPr lang="hr-HR" sz="1200" dirty="0" err="1"/>
              <a:t>contributors</a:t>
            </a:r>
            <a:r>
              <a:rPr lang="hr-HR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72130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EC41C-CBCD-9B6F-FE88-FD4840DCA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733E773-8347-421F-D2CC-4AB72789E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r-HR" sz="2800" dirty="0">
                <a:latin typeface="Georgia" panose="02040502050405020303" pitchFamily="18" charset="0"/>
              </a:rPr>
              <a:t>Zaključak</a:t>
            </a:r>
            <a:endParaRPr lang="en-US" sz="2800" dirty="0">
              <a:latin typeface="Georgia" panose="02040502050405020303" pitchFamily="18" charset="0"/>
            </a:endParaRPr>
          </a:p>
        </p:txBody>
      </p:sp>
      <p:pic>
        <p:nvPicPr>
          <p:cNvPr id="8" name="Picture 4" descr="MANDphy - home - Matematička analiza i numeričke metode za ...">
            <a:extLst>
              <a:ext uri="{FF2B5EF4-FFF2-40B4-BE49-F238E27FC236}">
                <a16:creationId xmlns:a16="http://schemas.microsoft.com/office/drawing/2014/main" id="{4D7198DF-0638-E930-89A0-1A59BD46CF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28170" r="60194" b="27559"/>
          <a:stretch>
            <a:fillRect/>
          </a:stretch>
        </p:blipFill>
        <p:spPr bwMode="auto">
          <a:xfrm>
            <a:off x="5833178" y="6492875"/>
            <a:ext cx="525644" cy="223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AA6416B-F802-FAF0-636D-212D31615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2000" y="6356350"/>
            <a:ext cx="2743200" cy="365125"/>
          </a:xfrm>
        </p:spPr>
        <p:txBody>
          <a:bodyPr/>
          <a:lstStyle/>
          <a:p>
            <a:pPr lvl="1" algn="r"/>
            <a:fld id="{CFD40E17-5F22-405C-8E91-999647307EF5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lvl="1" algn="r"/>
              <a:t>14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A1CD9FE-89CB-ED82-60DA-FB6D9C848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E5FB-3D1B-424A-A119-878C655A8D2F}" type="datetime1">
              <a:rPr lang="hr-HR" smtClean="0"/>
              <a:t>24.1.2026.</a:t>
            </a:fld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71105D8-50B1-754D-F481-9E8E726C803B}"/>
              </a:ext>
            </a:extLst>
          </p:cNvPr>
          <p:cNvSpPr/>
          <p:nvPr/>
        </p:nvSpPr>
        <p:spPr>
          <a:xfrm>
            <a:off x="2325581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Pregled zahtjeva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ACC225F-0AC2-7A32-1293-573D1B2E14D1}"/>
              </a:ext>
            </a:extLst>
          </p:cNvPr>
          <p:cNvSpPr/>
          <p:nvPr/>
        </p:nvSpPr>
        <p:spPr>
          <a:xfrm>
            <a:off x="410666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Projekt i tim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1147E69-5499-613E-012C-86CBA900F6D2}"/>
              </a:ext>
            </a:extLst>
          </p:cNvPr>
          <p:cNvSpPr/>
          <p:nvPr/>
        </p:nvSpPr>
        <p:spPr>
          <a:xfrm>
            <a:off x="4240496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Korišteni alati i tehnologije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63F1ED7-E70D-96F3-5ED6-565C9A955357}"/>
              </a:ext>
            </a:extLst>
          </p:cNvPr>
          <p:cNvSpPr/>
          <p:nvPr/>
        </p:nvSpPr>
        <p:spPr>
          <a:xfrm>
            <a:off x="6155411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Arhitektura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11824FA-18AD-9B50-A34D-C88DFA63355D}"/>
              </a:ext>
            </a:extLst>
          </p:cNvPr>
          <p:cNvSpPr/>
          <p:nvPr/>
        </p:nvSpPr>
        <p:spPr>
          <a:xfrm>
            <a:off x="9985242" y="0"/>
            <a:ext cx="1796092" cy="3683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Iskustva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9F45292-8E32-C177-D70D-E7BFAF95EBCB}"/>
              </a:ext>
            </a:extLst>
          </p:cNvPr>
          <p:cNvSpPr/>
          <p:nvPr/>
        </p:nvSpPr>
        <p:spPr>
          <a:xfrm>
            <a:off x="8070326" y="0"/>
            <a:ext cx="1796092" cy="3683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Organizacija rada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FA868DB-083B-0578-8D2C-3E54125FD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666" y="1690688"/>
            <a:ext cx="11370668" cy="4208259"/>
          </a:xfrm>
        </p:spPr>
        <p:txBody>
          <a:bodyPr>
            <a:normAutofit/>
          </a:bodyPr>
          <a:lstStyle/>
          <a:p>
            <a:r>
              <a:rPr lang="hr-HR" sz="1700" b="1" dirty="0"/>
              <a:t>Što je bilo dobro:</a:t>
            </a:r>
            <a:endParaRPr lang="hr-HR" sz="1700" dirty="0"/>
          </a:p>
          <a:p>
            <a:pPr lvl="1"/>
            <a:r>
              <a:rPr lang="hr-HR" sz="1300" dirty="0"/>
              <a:t>Uspješna implementacija većine ključnih funkcionalnosti.</a:t>
            </a:r>
          </a:p>
          <a:p>
            <a:pPr lvl="1"/>
            <a:r>
              <a:rPr lang="hr-HR" sz="1300" dirty="0"/>
              <a:t>Naučili smo nove tehnologije (</a:t>
            </a:r>
            <a:r>
              <a:rPr lang="hr-HR" sz="1300" dirty="0" err="1"/>
              <a:t>React</a:t>
            </a:r>
            <a:r>
              <a:rPr lang="hr-HR" sz="1300" dirty="0"/>
              <a:t>, Next.js, </a:t>
            </a:r>
            <a:r>
              <a:rPr lang="hr-HR" sz="1300" dirty="0" err="1"/>
              <a:t>Django</a:t>
            </a:r>
            <a:r>
              <a:rPr lang="hr-HR" sz="1300" dirty="0"/>
              <a:t>, </a:t>
            </a:r>
            <a:r>
              <a:rPr lang="hr-HR" sz="1300" dirty="0" err="1"/>
              <a:t>PostgreSQL</a:t>
            </a:r>
            <a:r>
              <a:rPr lang="hr-HR" sz="1300" dirty="0"/>
              <a:t>).</a:t>
            </a:r>
          </a:p>
          <a:p>
            <a:pPr lvl="1"/>
            <a:r>
              <a:rPr lang="hr-HR" sz="1300" dirty="0"/>
              <a:t>Tim je ostvario dobru suradnju kroz redovite sastanke i komunikaciju putem </a:t>
            </a:r>
            <a:r>
              <a:rPr lang="hr-HR" sz="1300" dirty="0" err="1"/>
              <a:t>Discorda</a:t>
            </a:r>
            <a:r>
              <a:rPr lang="hr-HR" sz="1300" dirty="0"/>
              <a:t> i </a:t>
            </a:r>
            <a:r>
              <a:rPr lang="hr-HR" sz="1300" dirty="0" err="1"/>
              <a:t>GitHub</a:t>
            </a:r>
            <a:r>
              <a:rPr lang="hr-HR" sz="1300" dirty="0"/>
              <a:t>-a.</a:t>
            </a:r>
          </a:p>
          <a:p>
            <a:pPr lvl="1"/>
            <a:r>
              <a:rPr lang="hr-HR" sz="1300" dirty="0"/>
              <a:t>Stekli smo iskustvo u razvoju web aplikacija i cloud </a:t>
            </a:r>
            <a:r>
              <a:rPr lang="hr-HR" sz="1300" dirty="0" err="1"/>
              <a:t>deploy</a:t>
            </a:r>
            <a:r>
              <a:rPr lang="hr-HR" sz="1300" dirty="0"/>
              <a:t> procesu (</a:t>
            </a:r>
            <a:r>
              <a:rPr lang="hr-HR" sz="1300" dirty="0" err="1"/>
              <a:t>Vercel</a:t>
            </a:r>
            <a:r>
              <a:rPr lang="hr-HR" sz="1300" dirty="0"/>
              <a:t>, </a:t>
            </a:r>
            <a:r>
              <a:rPr lang="hr-HR" sz="1300" dirty="0" err="1"/>
              <a:t>Render</a:t>
            </a:r>
            <a:r>
              <a:rPr lang="hr-HR" sz="1300" dirty="0"/>
              <a:t>).</a:t>
            </a:r>
          </a:p>
          <a:p>
            <a:pPr lvl="1"/>
            <a:r>
              <a:rPr lang="hr-HR" sz="1300" dirty="0"/>
              <a:t>Kvalitetna dokumentacija omogućila je lakše razumijevanje projekta.</a:t>
            </a:r>
          </a:p>
          <a:p>
            <a:r>
              <a:rPr lang="hr-HR" sz="1700" b="1" dirty="0"/>
              <a:t>Što je moglo bolje:</a:t>
            </a:r>
            <a:endParaRPr lang="hr-HR" sz="1700" dirty="0"/>
          </a:p>
          <a:p>
            <a:pPr lvl="1"/>
            <a:r>
              <a:rPr lang="hr-HR" sz="1200" dirty="0"/>
              <a:t>Bolja organizacija zadataka i procjena vremena za izradu funkcionalnosti.</a:t>
            </a:r>
          </a:p>
          <a:p>
            <a:pPr lvl="1"/>
            <a:r>
              <a:rPr lang="hr-HR" sz="1200" dirty="0"/>
              <a:t>Više vremena posvetiti testiranju i sigurnosnim aspektima aplikacije.</a:t>
            </a:r>
          </a:p>
          <a:p>
            <a:pPr lvl="1"/>
            <a:r>
              <a:rPr lang="hr-HR" sz="1200" dirty="0"/>
              <a:t>Ranije definiranje ključnih zahtjeva i strukture aplikacije.</a:t>
            </a:r>
          </a:p>
          <a:p>
            <a:pPr lvl="1"/>
            <a:r>
              <a:rPr lang="hr-HR" sz="1200" dirty="0"/>
              <a:t>Optimizacija koda i bolja modularnost za buduće nadogradnje.</a:t>
            </a:r>
          </a:p>
          <a:p>
            <a:r>
              <a:rPr lang="hr-HR" sz="1700" b="1" dirty="0"/>
              <a:t>Što se nikako ne bi smjelo ponoviti:</a:t>
            </a:r>
            <a:endParaRPr lang="hr-HR" sz="1700" dirty="0"/>
          </a:p>
          <a:p>
            <a:pPr lvl="1"/>
            <a:r>
              <a:rPr lang="hr-HR" sz="1200" dirty="0"/>
              <a:t>Prevelik broj funkcionalnosti u odnosu na dostupno vrijeme.</a:t>
            </a:r>
          </a:p>
          <a:p>
            <a:pPr lvl="1"/>
            <a:r>
              <a:rPr lang="hr-HR" sz="1200" dirty="0"/>
              <a:t>Nedovoljna razrada arhitekture prije početka implementacije.</a:t>
            </a:r>
          </a:p>
          <a:p>
            <a:pPr lvl="1"/>
            <a:r>
              <a:rPr lang="hr-HR" sz="1200" dirty="0"/>
              <a:t>Kašnjenja u ranim fazama razvoja zbog učenja novih tehnologija.</a:t>
            </a:r>
            <a:endParaRPr lang="hr-HR" noProof="0" dirty="0">
              <a:sym typeface="Wingdings" panose="05000000000000000000" pitchFamily="2" charset="2"/>
            </a:endParaRPr>
          </a:p>
          <a:p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123304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56E40-081B-7BC5-125D-389482D98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8" descr="MANDphy - home - Matematička analiza i numeričke metode za ...">
            <a:extLst>
              <a:ext uri="{FF2B5EF4-FFF2-40B4-BE49-F238E27FC236}">
                <a16:creationId xmlns:a16="http://schemas.microsoft.com/office/drawing/2014/main" id="{BD4DA3DF-C2C2-561C-3F63-73E7C71201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3" t="24790" r="7063" b="23337"/>
          <a:stretch>
            <a:fillRect/>
          </a:stretch>
        </p:blipFill>
        <p:spPr bwMode="auto">
          <a:xfrm>
            <a:off x="360000" y="325417"/>
            <a:ext cx="3374741" cy="622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BD4F5D7-D91A-E7C6-16C7-FD6FA903CAE9}"/>
              </a:ext>
            </a:extLst>
          </p:cNvPr>
          <p:cNvSpPr/>
          <p:nvPr/>
        </p:nvSpPr>
        <p:spPr>
          <a:xfrm>
            <a:off x="0" y="4718111"/>
            <a:ext cx="12192000" cy="2139889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8A19B8B-324F-6B26-BC05-3901FCAC7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170467"/>
            <a:ext cx="10515600" cy="1325563"/>
          </a:xfrm>
        </p:spPr>
        <p:txBody>
          <a:bodyPr>
            <a:normAutofit/>
          </a:bodyPr>
          <a:lstStyle/>
          <a:p>
            <a:r>
              <a:rPr lang="hr-HR" sz="2800" dirty="0">
                <a:latin typeface="Georgia" panose="02040502050405020303" pitchFamily="18" charset="0"/>
              </a:rPr>
              <a:t>Hvala vam!</a:t>
            </a:r>
            <a:endParaRPr lang="en-US" sz="2800" dirty="0">
              <a:latin typeface="Georgia" panose="02040502050405020303" pitchFamily="18" charset="0"/>
            </a:endParaRPr>
          </a:p>
        </p:txBody>
      </p:sp>
      <p:pic>
        <p:nvPicPr>
          <p:cNvPr id="7170" name="Picture 2" descr="Software developer to project manager career change | CWJobs">
            <a:extLst>
              <a:ext uri="{FF2B5EF4-FFF2-40B4-BE49-F238E27FC236}">
                <a16:creationId xmlns:a16="http://schemas.microsoft.com/office/drawing/2014/main" id="{FBE45F0E-40CE-139E-1868-51FDFC7FB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4248" y="1"/>
            <a:ext cx="8387751" cy="4718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E645A-0F0A-B4CD-F37B-887657EBD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8561E-1688-4225-8D24-96E655CC0DF7}" type="datetime1">
              <a:rPr lang="hr-HR" smtClean="0"/>
              <a:t>23.1.2026.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794D5F-27D5-5EC8-9930-D4343F55F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0E17-5F22-405C-8E91-999647307EF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608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5266</TotalTime>
  <Words>1434</Words>
  <Application>Microsoft Office PowerPoint</Application>
  <PresentationFormat>Widescreen</PresentationFormat>
  <Paragraphs>309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Georgia</vt:lpstr>
      <vt:lpstr>Wingdings</vt:lpstr>
      <vt:lpstr>Office Theme</vt:lpstr>
      <vt:lpstr>Programsko Inženjerstvo  CareFree - Završna prezentacija  G7.01</vt:lpstr>
      <vt:lpstr>Agenda</vt:lpstr>
      <vt:lpstr>Članovi tima</vt:lpstr>
      <vt:lpstr>Opis projekta</vt:lpstr>
      <vt:lpstr>Funkcijski zahtjevi</vt:lpstr>
      <vt:lpstr>Nefunkcijski zahtjevi</vt:lpstr>
      <vt:lpstr>Korišteni alati i tehnologije</vt:lpstr>
      <vt:lpstr>Dijagram arhitekture</vt:lpstr>
      <vt:lpstr>Arhitektura sustava</vt:lpstr>
      <vt:lpstr>UML dijagram obrazaca uporabe</vt:lpstr>
      <vt:lpstr>Sekvencijski dijagram</vt:lpstr>
      <vt:lpstr>Ispitivanje</vt:lpstr>
      <vt:lpstr>Organizacija rada</vt:lpstr>
      <vt:lpstr>Zaključak</vt:lpstr>
      <vt:lpstr>Hvala vam!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Dražetić</dc:creator>
  <cp:lastModifiedBy>Ivan Dražetić</cp:lastModifiedBy>
  <cp:revision>16</cp:revision>
  <dcterms:created xsi:type="dcterms:W3CDTF">2025-10-21T19:03:01Z</dcterms:created>
  <dcterms:modified xsi:type="dcterms:W3CDTF">2026-01-23T23:37:49Z</dcterms:modified>
</cp:coreProperties>
</file>